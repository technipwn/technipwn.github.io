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6" r:id="rId2"/>
    <p:sldId id="257" r:id="rId3"/>
    <p:sldId id="277" r:id="rId4"/>
    <p:sldId id="283" r:id="rId5"/>
    <p:sldId id="258" r:id="rId6"/>
    <p:sldId id="268" r:id="rId7"/>
    <p:sldId id="284" r:id="rId8"/>
    <p:sldId id="279" r:id="rId9"/>
    <p:sldId id="290" r:id="rId10"/>
    <p:sldId id="292" r:id="rId11"/>
    <p:sldId id="286" r:id="rId12"/>
    <p:sldId id="293" r:id="rId13"/>
    <p:sldId id="287" r:id="rId1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E21"/>
    <a:srgbClr val="242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7" autoAdjust="0"/>
    <p:restoredTop sz="94610"/>
  </p:normalViewPr>
  <p:slideViewPr>
    <p:cSldViewPr snapToGrid="0">
      <p:cViewPr varScale="1">
        <p:scale>
          <a:sx n="127" d="100"/>
          <a:sy n="127" d="100"/>
        </p:scale>
        <p:origin x="1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81B1C-CF05-0F44-A33E-A38439A627E4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715B0-74F3-B64E-A730-C7F3E6BEB91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178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4197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9053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7417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6946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6932A-52AC-09A2-885E-B8D33276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2F506-31BF-1DCE-6618-51293EF9A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1A081-8842-5BBD-61A0-18D6DCA56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46808-292B-79C0-107B-5E39AB7F5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6308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651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5E9E-4F38-4008-FC07-B9D93041C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FDA19-FAC9-0FD7-BAEA-D33742EE9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167C-AD4B-E539-88F6-7CC74491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3455A-C314-6C47-2615-3003158D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9BAA2-C063-397C-3FBF-C1F2C3AE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818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5E29-8ABE-4749-6970-39FF5E0A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1F52-CF88-1929-6B8C-4C8F5773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24720-A70F-7736-DEB4-2089ABAB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CF58F-9B1A-57C2-DE71-C2A876C4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6248-356F-A677-D98E-1CEE8363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754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AFDE-3277-B5AC-B7A7-8A6A9E23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6AC05-F502-8D42-B690-688CE7C20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4EFB-7E34-35D7-5D07-35F2283F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2AEC8-F977-2F41-2CAD-46CA10EF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36CC9-EB60-2FC1-F1C3-325FC86C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202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CD5A-E230-A954-4CCC-434C6720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6749-9277-2566-1F0A-23A846700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8A8C-DBCB-50A1-D33B-6B282B123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614D5-E93D-BE04-2D7F-1A508CBE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FB3C2-4F64-3537-72BE-9F50DC7F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C1213-C03E-D639-79A3-04DA6851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202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AE8C-6FDA-BE19-DCE3-3BD308AA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C048F-7517-2662-B606-D2B218AF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08264-C9DB-11A0-214F-2C5E2527F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5F375-1D78-10E0-0B11-87037CD47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DC9A6-D883-0DD9-886C-A59CE4C5C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71A5E-75D4-8FDF-B300-292ABA1B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8DFF9-5236-B29B-63FE-596F51177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441FF7-20CE-491E-7EFE-27360F9A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208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FCA3-4188-F926-D0D7-CC334A94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93095-8076-2A76-F8D7-E863175D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6A2F1-D15C-6B58-86B2-8F657B7BE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FA665-696D-A3F4-4A11-988832C7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548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A5FBC-3932-EDC0-DE5A-1BCCC27B4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D4C69-B32C-8C2A-5AA0-7001A97D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37430-6E5A-07D5-EF51-CF10C16A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652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7067-AD13-7B44-FF30-9D27D0AFF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2325B-FCA7-0ABA-EE0B-4C6C7EEC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7363E-7471-6EF2-7E01-010E5419A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CC1AE-A8BD-4A3F-79B1-B5C47CCB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B3946-DEB7-F715-99AA-00291658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7E1AE-91B9-6557-BBFE-A21DC6DF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830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26C4-1335-F787-B666-BEF9285B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19E41-F91B-BE80-C8A2-3332C3E59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B77E7-5892-8985-4396-1324BDDF7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07B15-23BA-4BAD-CB04-3AC9F9FE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41F28-A60B-68F6-0A6C-DE488314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B09E9-8C29-93A8-BA78-7D8182F6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1041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9C43-8061-EE6C-1B5A-F00114F6F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59A86-1141-99C9-BDB8-6CCD3B0C9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63DF8-C58E-CB5D-E4B4-ECF8DE2B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D1815-680E-CA66-72F3-5B93608F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BC2A0-3E58-7E2B-B473-C5B1D562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613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7F013-8549-0676-11FD-6F103704C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42FA9-65FB-69A5-60E1-2B0B4379C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4627B-323E-27B2-00D4-6550681C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A7913-33F9-8AE1-49E5-7235C65F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D308B-3051-7C10-4285-1B01246E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038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92578-C2F0-CCB8-512F-F1CD25F5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DB365-89B4-93E9-774E-A4700E5D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70984-0714-AFE8-8FB1-1C90EE7C9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9F28E-B300-B343-AE70-8AAEBE22BCA3}" type="datetimeFigureOut">
              <a:rPr lang="en-IL" smtClean="0"/>
              <a:t>14/11/2025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7A94B-BE45-3BBC-FB43-57874ECC0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7FB72-B5EA-BE12-58BF-13B4E5F96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42C03-A410-6843-A0F7-BFD332B83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031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xss.challenge.training.hacq.me/" TargetMode="External"/><Relationship Id="rId13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openxmlformats.org/officeDocument/2006/relationships/hyperlink" Target="https://www.root-me.org/fr/Challenges/Web-Client/" TargetMode="External"/><Relationship Id="rId12" Type="http://schemas.openxmlformats.org/officeDocument/2006/relationships/hyperlink" Target="https://www.intigriti.com/hackademy/xss-challeng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xss-game.appspot.com/" TargetMode="External"/><Relationship Id="rId11" Type="http://schemas.openxmlformats.org/officeDocument/2006/relationships/hyperlink" Target="https://github.com/digininja/DVWA" TargetMode="External"/><Relationship Id="rId5" Type="http://schemas.openxmlformats.org/officeDocument/2006/relationships/hyperlink" Target="https://portswigger.net/web-security/all-labs#cross-site-request-forgery-csrf" TargetMode="External"/><Relationship Id="rId10" Type="http://schemas.openxmlformats.org/officeDocument/2006/relationships/hyperlink" Target="https://xss-quiz.int21h.jp/" TargetMode="External"/><Relationship Id="rId4" Type="http://schemas.openxmlformats.org/officeDocument/2006/relationships/hyperlink" Target="https://portswigger.net/web-security/all-labs#cross-site-scripting" TargetMode="External"/><Relationship Id="rId9" Type="http://schemas.openxmlformats.org/officeDocument/2006/relationships/hyperlink" Target="https://xss.pwnfunction.com/" TargetMode="External"/><Relationship Id="rId1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pp.hackthebox.com/" TargetMode="External"/><Relationship Id="rId5" Type="http://schemas.openxmlformats.org/officeDocument/2006/relationships/hyperlink" Target="https://overthewire.org/wargames/natas" TargetMode="External"/><Relationship Id="rId4" Type="http://schemas.openxmlformats.org/officeDocument/2006/relationships/hyperlink" Target="https://webhacking.k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554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4C4AF9-6CBF-8504-F8FE-8E825ADA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096" y="2004365"/>
            <a:ext cx="1998805" cy="3028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072666" y="2004365"/>
            <a:ext cx="6261812" cy="2439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dirty="0">
                <a:solidFill>
                  <a:srgbClr val="E1FD21"/>
                </a:solidFill>
                <a:latin typeface="Miriam Libre" pitchFamily="2" charset="-79"/>
                <a:ea typeface="3270 CONDENSED" panose="02000509000000000000" pitchFamily="49" charset="0"/>
                <a:cs typeface="Miriam Libre" pitchFamily="2" charset="-79"/>
              </a:rPr>
              <a:t>Web exploitation</a:t>
            </a:r>
            <a:endParaRPr lang="en-US" sz="6000" b="1" dirty="0">
              <a:solidFill>
                <a:srgbClr val="E1FD21"/>
              </a:solidFill>
              <a:effectLst/>
              <a:latin typeface="Miriam Libre" pitchFamily="2" charset="-79"/>
              <a:ea typeface="3270 CONDENSED" panose="02000509000000000000" pitchFamily="49" charset="0"/>
              <a:cs typeface="Miriam Libre" pitchFamily="2" charset="-79"/>
            </a:endParaRPr>
          </a:p>
          <a:p>
            <a:pPr algn="l">
              <a:lnSpc>
                <a:spcPts val="6000"/>
              </a:lnSpc>
            </a:pPr>
            <a:r>
              <a:rPr lang="en-US" sz="6000" b="1" dirty="0">
                <a:solidFill>
                  <a:schemeClr val="bg1"/>
                </a:solidFill>
                <a:effectLst/>
                <a:latin typeface="Miriam Libre" pitchFamily="2" charset="-79"/>
                <a:ea typeface="3270 CONDENSED" panose="02000509000000000000" pitchFamily="49" charset="0"/>
                <a:cs typeface="Miriam Libre" pitchFamily="2" charset="-79"/>
              </a:rPr>
              <a:t>Part 1</a:t>
            </a:r>
            <a:endParaRPr lang="he-IL" sz="6000" b="1" dirty="0">
              <a:solidFill>
                <a:schemeClr val="bg1"/>
              </a:solidFill>
              <a:effectLst/>
              <a:latin typeface="Miriam Libre" pitchFamily="2" charset="-79"/>
              <a:ea typeface="3270 CONDENSED" panose="02000509000000000000" pitchFamily="49" charset="0"/>
              <a:cs typeface="Miriam Libre" pitchFamily="2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720B3A-4214-C253-DC62-43F69EE5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55F811-1B73-0EAE-5D9B-3DC714A2CA29}"/>
              </a:ext>
            </a:extLst>
          </p:cNvPr>
          <p:cNvSpPr txBox="1"/>
          <p:nvPr/>
        </p:nvSpPr>
        <p:spPr>
          <a:xfrm>
            <a:off x="2072666" y="4296752"/>
            <a:ext cx="6261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Client side vulnerabilities</a:t>
            </a:r>
            <a:endParaRPr lang="he-IL" sz="24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D70DD-DDA5-8E1C-DC90-BA7243AD243D}"/>
              </a:ext>
            </a:extLst>
          </p:cNvPr>
          <p:cNvCxnSpPr>
            <a:cxnSpLocks/>
          </p:cNvCxnSpPr>
          <p:nvPr/>
        </p:nvCxnSpPr>
        <p:spPr>
          <a:xfrm>
            <a:off x="1851500" y="5190890"/>
            <a:ext cx="63900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6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5" y="488435"/>
            <a:ext cx="7223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spc="120" dirty="0">
                <a:solidFill>
                  <a:srgbClr val="E2FE21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Web exploitation - introduction</a:t>
            </a:r>
            <a:endParaRPr lang="he-IL" sz="4000" spc="120" dirty="0">
              <a:solidFill>
                <a:srgbClr val="E2FE21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39E69-1911-E1CA-7F9F-70B57027F657}"/>
              </a:ext>
            </a:extLst>
          </p:cNvPr>
          <p:cNvSpPr txBox="1"/>
          <p:nvPr/>
        </p:nvSpPr>
        <p:spPr>
          <a:xfrm>
            <a:off x="2331720" y="2157881"/>
            <a:ext cx="6684264" cy="310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There </a:t>
            </a:r>
            <a:r>
              <a:rPr lang="en-US" sz="2400" dirty="0">
                <a:solidFill>
                  <a:srgbClr val="24272B"/>
                </a:solidFill>
                <a:latin typeface="Miriam Libre" pitchFamily="2" charset="-79"/>
                <a:cs typeface="Miriam Libre" pitchFamily="2" charset="-79"/>
              </a:rPr>
              <a:t>are vulnerabilities fundamental to the internet that show up regardless of the chosen technology.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In CTFs, the usual form of a web challenge is one where players are given a link to a website (and sometimes it’s source code) and have to find a flaw in the website’s design, exploit it and retrieve the flag.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FC9B7-76F8-4846-6AE9-F8E9111011E1}"/>
              </a:ext>
            </a:extLst>
          </p:cNvPr>
          <p:cNvSpPr txBox="1"/>
          <p:nvPr/>
        </p:nvSpPr>
        <p:spPr>
          <a:xfrm>
            <a:off x="292971" y="6353304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200" spc="30">
                <a:solidFill>
                  <a:srgbClr val="24272B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Web exploitation - introduction</a:t>
            </a:r>
            <a:endParaRPr lang="en-US" sz="1200" spc="30" dirty="0">
              <a:solidFill>
                <a:srgbClr val="24272B"/>
              </a:solidFill>
              <a:effectLst/>
              <a:latin typeface="Handjet Square Single" pitchFamily="2" charset="0"/>
              <a:cs typeface="Handjet Square Single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3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4" y="587727"/>
            <a:ext cx="744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Client side VS server side</a:t>
            </a:r>
            <a:endParaRPr lang="he-IL" sz="32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FC9B7-76F8-4846-6AE9-F8E9111011E1}"/>
              </a:ext>
            </a:extLst>
          </p:cNvPr>
          <p:cNvSpPr txBox="1"/>
          <p:nvPr/>
        </p:nvSpPr>
        <p:spPr>
          <a:xfrm>
            <a:off x="292971" y="6381880"/>
            <a:ext cx="60972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Client side VS server side</a:t>
            </a:r>
            <a:endParaRPr lang="en-IL" sz="1000" dirty="0"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E50445-BA81-4784-8962-C7594FBD9F4F}"/>
              </a:ext>
            </a:extLst>
          </p:cNvPr>
          <p:cNvSpPr txBox="1"/>
          <p:nvPr/>
        </p:nvSpPr>
        <p:spPr>
          <a:xfrm>
            <a:off x="1453896" y="2129716"/>
            <a:ext cx="8513064" cy="2768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en-US" sz="4000" b="1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iriam Libre" panose="00000500000000000000" pitchFamily="2" charset="-79"/>
                <a:cs typeface="Miriam Libre" panose="00000500000000000000" pitchFamily="2" charset="-79"/>
              </a:rPr>
              <a:t>Client side</a:t>
            </a:r>
            <a:r>
              <a:rPr lang="en-US" sz="2400" dirty="0">
                <a:latin typeface="Miriam Libre" panose="00000500000000000000" pitchFamily="2" charset="-79"/>
                <a:cs typeface="Miriam Libre" panose="00000500000000000000" pitchFamily="2" charset="-79"/>
              </a:rPr>
              <a:t> refers to everything that occurs within the user's browser. </a:t>
            </a: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Miriam Libre" panose="00000500000000000000" pitchFamily="2" charset="-79"/>
              <a:cs typeface="Miriam Libre" panose="00000500000000000000" pitchFamily="2" charset="-79"/>
            </a:endParaRP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iriam Libre" panose="00000500000000000000" pitchFamily="2" charset="-79"/>
                <a:cs typeface="Miriam Libre" panose="00000500000000000000" pitchFamily="2" charset="-79"/>
              </a:rPr>
              <a:t>This includes rendering HTML and CSS, executing JavaScript, managing cookies and session data, handling user interactions, making requests to server and more.</a:t>
            </a:r>
          </a:p>
        </p:txBody>
      </p:sp>
    </p:spTree>
    <p:extLst>
      <p:ext uri="{BB962C8B-B14F-4D97-AF65-F5344CB8AC3E}">
        <p14:creationId xmlns:p14="http://schemas.microsoft.com/office/powerpoint/2010/main" val="205175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2427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rgbClr val="2427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87FF34-DF3A-239A-78FE-A64704203FFC}"/>
              </a:ext>
            </a:extLst>
          </p:cNvPr>
          <p:cNvSpPr txBox="1"/>
          <p:nvPr/>
        </p:nvSpPr>
        <p:spPr>
          <a:xfrm>
            <a:off x="886794" y="587727"/>
            <a:ext cx="7449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Client side VS server side</a:t>
            </a:r>
            <a:endParaRPr lang="he-IL" sz="32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FC9B7-76F8-4846-6AE9-F8E9111011E1}"/>
              </a:ext>
            </a:extLst>
          </p:cNvPr>
          <p:cNvSpPr txBox="1"/>
          <p:nvPr/>
        </p:nvSpPr>
        <p:spPr>
          <a:xfrm>
            <a:off x="292971" y="6381880"/>
            <a:ext cx="60972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24272B"/>
                </a:solidFill>
                <a:effectLst/>
                <a:latin typeface="Miriam Libre" pitchFamily="2" charset="-79"/>
                <a:cs typeface="Miriam Libre" pitchFamily="2" charset="-79"/>
              </a:rPr>
              <a:t>Client side VS server side</a:t>
            </a:r>
            <a:endParaRPr lang="en-IL" sz="1000" dirty="0"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257554-5D62-32A1-BCAC-40F22766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9329" y="6366654"/>
            <a:ext cx="3079700" cy="243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E50445-BA81-4784-8962-C7594FBD9F4F}"/>
              </a:ext>
            </a:extLst>
          </p:cNvPr>
          <p:cNvSpPr txBox="1"/>
          <p:nvPr/>
        </p:nvSpPr>
        <p:spPr>
          <a:xfrm>
            <a:off x="1654632" y="2079011"/>
            <a:ext cx="8185709" cy="2768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en-US" sz="3600" b="1" dirty="0">
              <a:solidFill>
                <a:srgbClr val="24272B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iriam Libre" panose="00000500000000000000" pitchFamily="2" charset="-79"/>
                <a:cs typeface="Miriam Libre" panose="00000500000000000000" pitchFamily="2" charset="-79"/>
              </a:rPr>
              <a:t>Server side </a:t>
            </a:r>
            <a:r>
              <a:rPr lang="en-US" sz="2400" dirty="0">
                <a:latin typeface="Miriam Libre" panose="00000500000000000000" pitchFamily="2" charset="-79"/>
                <a:cs typeface="Miriam Libre" panose="00000500000000000000" pitchFamily="2" charset="-79"/>
              </a:rPr>
              <a:t>refers to the backend server which the front end sends/receives information to/from.</a:t>
            </a: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Miriam Libre" panose="00000500000000000000" pitchFamily="2" charset="-79"/>
              <a:cs typeface="Miriam Libre" panose="00000500000000000000" pitchFamily="2" charset="-79"/>
            </a:endParaRP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iriam Libre" panose="00000500000000000000" pitchFamily="2" charset="-79"/>
                <a:cs typeface="Miriam Libre" panose="00000500000000000000" pitchFamily="2" charset="-79"/>
              </a:rPr>
              <a:t>It’s the side responsible for processing requests made by the client side, storing and managing data, interacting with databases, handling API endpoints, authenticating users and more.	 </a:t>
            </a:r>
          </a:p>
        </p:txBody>
      </p:sp>
    </p:spTree>
    <p:extLst>
      <p:ext uri="{BB962C8B-B14F-4D97-AF65-F5344CB8AC3E}">
        <p14:creationId xmlns:p14="http://schemas.microsoft.com/office/powerpoint/2010/main" val="1893958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38988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E2F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F3A454A-557E-2F1B-4701-7328B5F7B509}"/>
              </a:ext>
            </a:extLst>
          </p:cNvPr>
          <p:cNvSpPr txBox="1"/>
          <p:nvPr/>
        </p:nvSpPr>
        <p:spPr>
          <a:xfrm>
            <a:off x="143867" y="466875"/>
            <a:ext cx="9059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spc="120" dirty="0">
                <a:solidFill>
                  <a:srgbClr val="24272C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Common client side vulnerabilities</a:t>
            </a:r>
            <a:endParaRPr lang="he-IL" sz="3600" b="1" spc="120" dirty="0">
              <a:solidFill>
                <a:srgbClr val="24272C"/>
              </a:solidFill>
              <a:effectLst/>
              <a:latin typeface="Miriam Libre" panose="00000500000000000000" pitchFamily="2" charset="-79"/>
              <a:cs typeface="Miriam Libre" panose="00000500000000000000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23EB0-3936-B158-8ED3-27059A73D396}"/>
              </a:ext>
            </a:extLst>
          </p:cNvPr>
          <p:cNvSpPr txBox="1"/>
          <p:nvPr/>
        </p:nvSpPr>
        <p:spPr>
          <a:xfrm>
            <a:off x="292971" y="1768421"/>
            <a:ext cx="11683681" cy="310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Today we will explore:</a:t>
            </a:r>
          </a:p>
          <a:p>
            <a:pPr>
              <a:lnSpc>
                <a:spcPts val="2560"/>
              </a:lnSpc>
            </a:pPr>
            <a:endParaRPr lang="en-US" sz="24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Cross site scripting (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XSS) –</a:t>
            </a: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An attacker 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manipulates a vulnerable web application so that it returns and executes malicious JavaScript on other user’s browsers.</a:t>
            </a: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Cross Site Request Forgery </a:t>
            </a: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(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CSRF) –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An attacker induces users to perform actions on the website which they did not intend.</a:t>
            </a:r>
          </a:p>
          <a:p>
            <a:pPr>
              <a:lnSpc>
                <a:spcPts val="2560"/>
              </a:lnSpc>
            </a:pPr>
            <a:endParaRPr lang="en-US" sz="24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60FD5-2930-AF70-95FE-EC8394D9ACDC}"/>
              </a:ext>
            </a:extLst>
          </p:cNvPr>
          <p:cNvSpPr txBox="1"/>
          <p:nvPr/>
        </p:nvSpPr>
        <p:spPr>
          <a:xfrm>
            <a:off x="292971" y="6365895"/>
            <a:ext cx="6097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200" spc="30" dirty="0">
                <a:solidFill>
                  <a:schemeClr val="bg1"/>
                </a:solidFill>
                <a:effectLst/>
                <a:latin typeface="Handjet Square Single" pitchFamily="2" charset="0"/>
                <a:cs typeface="Handjet Square Single" pitchFamily="2" charset="0"/>
              </a:rPr>
              <a:t>Common client side vulnerabilities</a:t>
            </a:r>
            <a:endParaRPr lang="en-IL" sz="1200" spc="30" dirty="0">
              <a:solidFill>
                <a:schemeClr val="bg1"/>
              </a:solidFill>
              <a:latin typeface="Handjet Square Single" pitchFamily="2" charset="0"/>
              <a:cs typeface="Handjet Square Single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991646-87D7-3A72-4C65-2C52A91574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00489" y="6377732"/>
            <a:ext cx="2717380" cy="22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63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302106"/>
          </a:xfrm>
          <a:prstGeom prst="rect">
            <a:avLst/>
          </a:prstGeom>
          <a:solidFill>
            <a:srgbClr val="E2F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F1EB014-87E6-D8D7-1B7F-97DEF5C4AB55}"/>
              </a:ext>
            </a:extLst>
          </p:cNvPr>
          <p:cNvSpPr txBox="1"/>
          <p:nvPr/>
        </p:nvSpPr>
        <p:spPr>
          <a:xfrm>
            <a:off x="292971" y="542106"/>
            <a:ext cx="7850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rgbClr val="24272C"/>
                </a:solidFill>
                <a:effectLst/>
                <a:latin typeface="Miriam Libre" pitchFamily="2" charset="-79"/>
                <a:cs typeface="Miriam Libre" pitchFamily="2" charset="-79"/>
              </a:rPr>
              <a:t>Cross Site Scripting (XSS)</a:t>
            </a:r>
            <a:endParaRPr lang="he-IL" sz="3200" b="1" dirty="0">
              <a:solidFill>
                <a:srgbClr val="24272C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D91F2-EE24-3166-CD6C-BAFBC797325C}"/>
              </a:ext>
            </a:extLst>
          </p:cNvPr>
          <p:cNvSpPr txBox="1"/>
          <p:nvPr/>
        </p:nvSpPr>
        <p:spPr>
          <a:xfrm>
            <a:off x="292971" y="6365895"/>
            <a:ext cx="60972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Cross Site Scripting (XSS)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67AEC4-71D1-89EA-5D3E-E83882E2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00489" y="6377732"/>
            <a:ext cx="2717380" cy="2215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33F90E-E50A-4C6D-837E-A7B1D45E5C15}"/>
              </a:ext>
            </a:extLst>
          </p:cNvPr>
          <p:cNvSpPr txBox="1"/>
          <p:nvPr/>
        </p:nvSpPr>
        <p:spPr>
          <a:xfrm>
            <a:off x="292971" y="1545612"/>
            <a:ext cx="11444790" cy="4102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As said before, </a:t>
            </a: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XSS is simply a fancy name for JavaScript injection.</a:t>
            </a: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342900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There are a few types of XSS, the main ones being:</a:t>
            </a:r>
          </a:p>
          <a:p>
            <a:pPr marL="800100" lvl="1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Reflected XSS - 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when an XSS exploit is provided through a URL </a:t>
            </a:r>
            <a:r>
              <a:rPr lang="en-US" sz="2400" dirty="0" err="1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paramater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.</a:t>
            </a:r>
          </a:p>
          <a:p>
            <a:pPr marL="800100" lvl="1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Stored XSS – </a:t>
            </a: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The malicious input is stored on the server rather than immediately reflected, and is executed upon every request for it.</a:t>
            </a:r>
          </a:p>
          <a:p>
            <a:pPr marL="800100" lvl="1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800100" lvl="1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DOM XSS – </a:t>
            </a: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Occurs when user controlled data is inserted into the website DOM in an unsafe way.</a:t>
            </a:r>
            <a:endParaRPr lang="en-US" sz="24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800100" lvl="1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800100" lvl="1" indent="-34290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091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24358" y="138988"/>
            <a:ext cx="11923775" cy="1028198"/>
          </a:xfrm>
          <a:prstGeom prst="rect">
            <a:avLst/>
          </a:prstGeom>
          <a:solidFill>
            <a:srgbClr val="E2F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6217920"/>
            <a:ext cx="11923775" cy="731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F1EB014-87E6-D8D7-1B7F-97DEF5C4AB55}"/>
              </a:ext>
            </a:extLst>
          </p:cNvPr>
          <p:cNvSpPr txBox="1"/>
          <p:nvPr/>
        </p:nvSpPr>
        <p:spPr>
          <a:xfrm>
            <a:off x="292971" y="403620"/>
            <a:ext cx="7850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rgbClr val="24272C"/>
                </a:solidFill>
                <a:effectLst/>
                <a:latin typeface="Miriam Libre" pitchFamily="2" charset="-79"/>
                <a:cs typeface="Miriam Libre" pitchFamily="2" charset="-79"/>
              </a:rPr>
              <a:t>Example – Reflected XSS</a:t>
            </a:r>
            <a:endParaRPr lang="he-IL" sz="3200" b="1" dirty="0">
              <a:solidFill>
                <a:srgbClr val="24272C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D91F2-EE24-3166-CD6C-BAFBC797325C}"/>
              </a:ext>
            </a:extLst>
          </p:cNvPr>
          <p:cNvSpPr txBox="1"/>
          <p:nvPr/>
        </p:nvSpPr>
        <p:spPr>
          <a:xfrm>
            <a:off x="292971" y="6365895"/>
            <a:ext cx="609721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Example – Reflected XSS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67AEC4-71D1-89EA-5D3E-E83882E2C9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00489" y="6377732"/>
            <a:ext cx="2717380" cy="2215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33F90E-E50A-4C6D-837E-A7B1D45E5C15}"/>
              </a:ext>
            </a:extLst>
          </p:cNvPr>
          <p:cNvSpPr txBox="1"/>
          <p:nvPr/>
        </p:nvSpPr>
        <p:spPr>
          <a:xfrm>
            <a:off x="124357" y="1195605"/>
            <a:ext cx="11923775" cy="5102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2560"/>
              </a:lnSpc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Suppose a website has a search functionality which receives the user-supplied search term in a URL parameter:</a:t>
            </a:r>
          </a:p>
          <a:p>
            <a:pPr lvl="1">
              <a:lnSpc>
                <a:spcPts val="2560"/>
              </a:lnSpc>
            </a:pPr>
            <a:endParaRPr lang="en-US" sz="24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endParaRPr lang="en-US" sz="24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server process the request and the search term, and then responds by </a:t>
            </a: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echoing it in a way:</a:t>
            </a:r>
            <a:endParaRPr lang="en-US" sz="24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endParaRPr lang="en-US" sz="24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An attacker could then construct a malicious URL and send it to a victim:</a:t>
            </a:r>
          </a:p>
          <a:p>
            <a:pPr lvl="1">
              <a:lnSpc>
                <a:spcPts val="2560"/>
              </a:lnSpc>
            </a:pP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An the server will return:</a:t>
            </a:r>
          </a:p>
          <a:p>
            <a:pPr lvl="1">
              <a:lnSpc>
                <a:spcPts val="2560"/>
              </a:lnSpc>
            </a:pPr>
            <a:endParaRPr lang="en-US" sz="24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endParaRPr lang="en-US" sz="24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lvl="1">
              <a:lnSpc>
                <a:spcPts val="2560"/>
              </a:lnSpc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Which is </a:t>
            </a:r>
            <a:r>
              <a:rPr lang="en-US" sz="24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valid HTML</a:t>
            </a: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.</a:t>
            </a:r>
            <a:endParaRPr lang="en-US" sz="24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6EC9B6-F013-4914-98E9-A1324A5A3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88" y="2009486"/>
            <a:ext cx="10145323" cy="3941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CCA25D-94A3-410D-9E9D-577B29B0D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968" y="3227237"/>
            <a:ext cx="7699248" cy="5975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E49809A-5201-4713-ADCE-BF6887885DC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090" b="1"/>
          <a:stretch/>
        </p:blipFill>
        <p:spPr>
          <a:xfrm>
            <a:off x="1766281" y="4322454"/>
            <a:ext cx="9054130" cy="35441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641C194-DBD1-43C3-BC52-818CAFA9EE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6281" y="5241998"/>
            <a:ext cx="7892580" cy="35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0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0" y="0"/>
            <a:ext cx="3721001" cy="6858000"/>
          </a:xfrm>
          <a:prstGeom prst="rect">
            <a:avLst/>
          </a:prstGeom>
          <a:solidFill>
            <a:srgbClr val="E2F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71A74-CCF7-4C4E-1BED-D443B1E5C692}"/>
              </a:ext>
            </a:extLst>
          </p:cNvPr>
          <p:cNvSpPr txBox="1"/>
          <p:nvPr/>
        </p:nvSpPr>
        <p:spPr>
          <a:xfrm>
            <a:off x="4652389" y="1227270"/>
            <a:ext cx="6447129" cy="307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As the name suggests, CSRF is about </a:t>
            </a:r>
            <a:r>
              <a:rPr lang="en-US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Forging (Faking) requests</a:t>
            </a: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.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It happens when the web application does not properly verify the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legitimacy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of a request that it receives.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CSRF attacks are usually a fancy name for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session hijacking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– where attackers use the victim’s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session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on a website in order to perform unwanted actions on the victim’s behalf.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3D056-14AE-5D73-871C-973D5A0536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70558" y="524524"/>
            <a:ext cx="2989117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834BB2-234E-BDD1-E7AE-CD78CC5E6535}"/>
              </a:ext>
            </a:extLst>
          </p:cNvPr>
          <p:cNvSpPr txBox="1"/>
          <p:nvPr/>
        </p:nvSpPr>
        <p:spPr>
          <a:xfrm>
            <a:off x="633984" y="1254616"/>
            <a:ext cx="2830735" cy="229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600" b="1" spc="120" dirty="0">
                <a:solidFill>
                  <a:srgbClr val="24272C"/>
                </a:solidFill>
                <a:effectLst/>
                <a:latin typeface="Handjet Medium Square Single" pitchFamily="2" charset="0"/>
                <a:cs typeface="Handjet Medium Square Single" pitchFamily="2" charset="0"/>
              </a:rPr>
              <a:t>Cross site Request Forgery (CSRF)</a:t>
            </a:r>
            <a:endParaRPr lang="he-IL" sz="3600" b="1" spc="120" dirty="0">
              <a:solidFill>
                <a:srgbClr val="24272C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679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0" y="0"/>
            <a:ext cx="3215514" cy="6858000"/>
          </a:xfrm>
          <a:prstGeom prst="rect">
            <a:avLst/>
          </a:prstGeom>
          <a:solidFill>
            <a:srgbClr val="E2FE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71A74-CCF7-4C4E-1BED-D443B1E5C692}"/>
              </a:ext>
            </a:extLst>
          </p:cNvPr>
          <p:cNvSpPr txBox="1"/>
          <p:nvPr/>
        </p:nvSpPr>
        <p:spPr>
          <a:xfrm>
            <a:off x="3416400" y="760985"/>
            <a:ext cx="8775600" cy="4412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Consider the following classic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scenario: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A bank website has authenticated a user and gave them a session cookie that keep them logged in.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The request of transfer money look like this: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http://securibank.com/transfer.do?acct=[RECEPIENT]&amp;amount=[DOLLARS]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Attacker can use this to send an email with hyperlink or create an invisible image that will do the request automatically 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&lt;</a:t>
            </a:r>
            <a:r>
              <a:rPr lang="en-US" dirty="0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img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src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="http://</a:t>
            </a:r>
            <a:r>
              <a:rPr lang="en-US" dirty="0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securibank.com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transfer.do?acct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=[RECEPIENT]&amp;amount=[DOLLARS]" width="0" height="0" border="0"&gt;</a:t>
            </a: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3D056-14AE-5D73-871C-973D5A0536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70558" y="524524"/>
            <a:ext cx="2989117" cy="2437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834BB2-234E-BDD1-E7AE-CD78CC5E6535}"/>
              </a:ext>
            </a:extLst>
          </p:cNvPr>
          <p:cNvSpPr txBox="1"/>
          <p:nvPr/>
        </p:nvSpPr>
        <p:spPr>
          <a:xfrm>
            <a:off x="633984" y="1254616"/>
            <a:ext cx="2830735" cy="1195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3600" b="1" spc="120" dirty="0">
                <a:solidFill>
                  <a:srgbClr val="24272C"/>
                </a:solidFill>
                <a:latin typeface="Handjet Medium Square Single" pitchFamily="2" charset="0"/>
                <a:cs typeface="Handjet Medium Square Single" pitchFamily="2" charset="0"/>
              </a:rPr>
              <a:t>Example - CSRF</a:t>
            </a:r>
            <a:endParaRPr lang="he-IL" sz="3600" b="1" spc="120" dirty="0">
              <a:solidFill>
                <a:srgbClr val="24272C"/>
              </a:solidFill>
              <a:effectLst/>
              <a:latin typeface="Handjet Medium Square Single" pitchFamily="2" charset="0"/>
              <a:cs typeface="Handjet Medium Square Sing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019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4337270"/>
            <a:ext cx="6261812" cy="919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Practice time</a:t>
            </a:r>
            <a:endParaRPr lang="he-IL" sz="65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71772"/>
            <a:ext cx="1333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2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697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20065" y="1622061"/>
            <a:ext cx="12024361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Today’s Challenges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https://www.root-me.org/en/Challenges/Web-Client/XSS-Stored-1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https://www.root-me.org/en/Challenges/Web-Client/CSRF-0-protection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https://www.root-me.org/en/Challenges/Web-Client/CSP-Bypass-Nonce -- Hard</a:t>
            </a:r>
          </a:p>
          <a:p>
            <a:pPr>
              <a:lnSpc>
                <a:spcPts val="6000"/>
              </a:lnSpc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Useful tool - https://</a:t>
            </a:r>
            <a:r>
              <a:rPr lang="en-US" sz="1600" b="1" dirty="0" err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webhook.site</a:t>
            </a: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</a:t>
            </a:r>
          </a:p>
          <a:p>
            <a:pPr>
              <a:lnSpc>
                <a:spcPts val="6000"/>
              </a:lnSpc>
            </a:pPr>
            <a:r>
              <a:rPr lang="en-US" sz="1600" b="1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CTF101 - https://ctf101.org</a:t>
            </a:r>
            <a:endParaRPr lang="en-US" sz="16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4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6C382-FD00-702B-7086-EA7DAF58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A756DF-171D-23B6-717F-325646790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2386C1-D514-7DA8-9168-D11E9378171E}"/>
              </a:ext>
            </a:extLst>
          </p:cNvPr>
          <p:cNvSpPr txBox="1"/>
          <p:nvPr/>
        </p:nvSpPr>
        <p:spPr>
          <a:xfrm>
            <a:off x="83819" y="1045191"/>
            <a:ext cx="12024361" cy="6978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hlinkClick r:id="rId4"/>
              </a:rPr>
              <a:t>https://portswigger.net/web-security/all-labs#cross-site-scripting</a:t>
            </a:r>
            <a:r>
              <a:rPr lang="en-US" sz="16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– High quality XSS labs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hlinkClick r:id="rId5"/>
              </a:rPr>
              <a:t>https://portswigger.net/web-security/all-labs#cross-site-request-forgery-csrf</a:t>
            </a:r>
            <a:r>
              <a:rPr lang="en-US" sz="16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– High quality CSRF labs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6"/>
              </a:rPr>
              <a:t>https://xss-game.appspot.com/ - </a:t>
            </a: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- Small XSS game by google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7"/>
              </a:rPr>
              <a:t>https://www.root-me.org/fr/Challenges/Web-Client/</a:t>
            </a: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- Client side challenges, including XSS and CSRF</a:t>
            </a:r>
          </a:p>
          <a:p>
            <a:pPr defTabSz="914400" rtl="0" eaLnBrk="1" latinLnBrk="0" hangingPunct="1"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hlinkClick r:id="rId8"/>
              </a:rPr>
              <a:t>https://xss.challenge.training.hacq.me/</a:t>
            </a:r>
            <a:r>
              <a:rPr lang="en-US" sz="16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- All kinds XSS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9"/>
              </a:rPr>
              <a:t>https://xss.pwnfunction.com </a:t>
            </a: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– DOM XSS</a:t>
            </a:r>
            <a:endParaRPr lang="en-US" sz="16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10"/>
              </a:rPr>
              <a:t>https://xss-quiz.int21h.jp</a:t>
            </a: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– Mostly DOM XSS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11"/>
              </a:rPr>
              <a:t>https://github.com/digininja/DVWA</a:t>
            </a:r>
            <a:r>
              <a:rPr lang="en-US" sz="16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 - A locally hosted vulnerable web application that contains practice on many kinds of web attacks, including XSS and CSRF</a:t>
            </a:r>
          </a:p>
          <a:p>
            <a:pPr>
              <a:lnSpc>
                <a:spcPct val="200000"/>
              </a:lnSpc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Miriam Libre" panose="00000500000000000000" pitchFamily="2" charset="-79"/>
                <a:ea typeface="+mn-ea"/>
                <a:cs typeface="Miriam Libre" panose="00000500000000000000" pitchFamily="2" charset="-79"/>
                <a:hlinkClick r:id="rId12"/>
              </a:rPr>
              <a:t>https://www.intigriti.com/hackademy/xss-challenges  </a:t>
            </a:r>
            <a:r>
              <a:rPr lang="en-US" sz="1800" b="1" kern="1200" dirty="0">
                <a:solidFill>
                  <a:srgbClr val="FFFFFF"/>
                </a:solidFill>
                <a:effectLst/>
                <a:latin typeface="Miriam Libre" panose="00000500000000000000" pitchFamily="2" charset="-79"/>
                <a:ea typeface="+mn-ea"/>
                <a:cs typeface="Miriam Libre" panose="00000500000000000000" pitchFamily="2" charset="-79"/>
              </a:rPr>
              <a:t>- </a:t>
            </a:r>
            <a:r>
              <a:rPr lang="en-US" sz="1800" b="1" kern="1200" dirty="0" err="1">
                <a:solidFill>
                  <a:srgbClr val="FFFFFF"/>
                </a:solidFill>
                <a:effectLst/>
                <a:latin typeface="Miriam Libre" panose="00000500000000000000" pitchFamily="2" charset="-79"/>
                <a:ea typeface="+mn-ea"/>
                <a:cs typeface="Miriam Libre" panose="00000500000000000000" pitchFamily="2" charset="-79"/>
              </a:rPr>
              <a:t>Intigriti</a:t>
            </a:r>
            <a:r>
              <a:rPr lang="en-US" sz="1800" b="1" kern="1200" dirty="0">
                <a:solidFill>
                  <a:srgbClr val="FFFFFF"/>
                </a:solidFill>
                <a:effectLst/>
                <a:latin typeface="Miriam Libre" panose="00000500000000000000" pitchFamily="2" charset="-79"/>
                <a:ea typeface="+mn-ea"/>
                <a:cs typeface="Miriam Libre" panose="00000500000000000000" pitchFamily="2" charset="-79"/>
              </a:rPr>
              <a:t> XSS challenges (hard)</a:t>
            </a:r>
            <a:endParaRPr lang="en-US" sz="1600" dirty="0">
              <a:effectLst/>
            </a:endParaRPr>
          </a:p>
          <a:p>
            <a:pPr>
              <a:lnSpc>
                <a:spcPct val="200000"/>
              </a:lnSpc>
            </a:pPr>
            <a:endParaRPr lang="en-US" sz="16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6000"/>
              </a:lnSpc>
            </a:pPr>
            <a:endParaRPr lang="en-US" sz="16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6000"/>
              </a:lnSpc>
            </a:pPr>
            <a:endParaRPr lang="en-US" sz="16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07DF0F-3593-D2B1-49FB-A295E7C8D0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78A562-3AF1-D6B1-9C87-456A09826D0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82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83819" y="1045191"/>
            <a:ext cx="12024361" cy="457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00"/>
              </a:lnSpc>
            </a:pPr>
            <a:r>
              <a:rPr lang="en-US" sz="28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Other places to practice web:</a:t>
            </a:r>
          </a:p>
          <a:p>
            <a:pPr>
              <a:lnSpc>
                <a:spcPts val="6000"/>
              </a:lnSpc>
            </a:pPr>
            <a:r>
              <a:rPr lang="en-US" sz="28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4"/>
              </a:rPr>
              <a:t>https://webhacking.kr/</a:t>
            </a:r>
            <a:endParaRPr lang="en-US" sz="28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6000"/>
              </a:lnSpc>
            </a:pPr>
            <a:r>
              <a:rPr lang="en-US" sz="28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5"/>
              </a:rPr>
              <a:t>https://overthewire.org/wargames/natas</a:t>
            </a:r>
            <a:endParaRPr lang="en-US" sz="28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6000"/>
              </a:lnSpc>
            </a:pPr>
            <a:r>
              <a:rPr lang="en-US" sz="28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hlinkClick r:id="rId6"/>
              </a:rPr>
              <a:t>https://app.hackthebox.com/</a:t>
            </a:r>
            <a:endParaRPr lang="en-US" sz="28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6000"/>
              </a:lnSpc>
            </a:pPr>
            <a:endParaRPr lang="en-US" sz="16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6000"/>
              </a:lnSpc>
            </a:pPr>
            <a:endParaRPr lang="en-US" sz="1600" b="1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30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6979</TotalTime>
  <Words>859</Words>
  <Application>Microsoft Macintosh PowerPoint</Application>
  <PresentationFormat>Widescreen</PresentationFormat>
  <Paragraphs>90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Handjet Medium Square Single</vt:lpstr>
      <vt:lpstr>Handjet Square Single</vt:lpstr>
      <vt:lpstr>Miriam Libre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michalu@gmail.com</dc:creator>
  <cp:lastModifiedBy>Roy Kaufman</cp:lastModifiedBy>
  <cp:revision>89</cp:revision>
  <dcterms:created xsi:type="dcterms:W3CDTF">2024-01-15T09:56:38Z</dcterms:created>
  <dcterms:modified xsi:type="dcterms:W3CDTF">2025-11-17T19:25:23Z</dcterms:modified>
</cp:coreProperties>
</file>