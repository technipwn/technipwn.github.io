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6" r:id="rId2"/>
    <p:sldId id="307" r:id="rId3"/>
    <p:sldId id="308" r:id="rId4"/>
    <p:sldId id="309" r:id="rId5"/>
    <p:sldId id="306" r:id="rId6"/>
    <p:sldId id="312" r:id="rId7"/>
    <p:sldId id="313" r:id="rId8"/>
    <p:sldId id="314" r:id="rId9"/>
    <p:sldId id="315" r:id="rId10"/>
    <p:sldId id="316" r:id="rId11"/>
    <p:sldId id="317" r:id="rId12"/>
    <p:sldId id="310" r:id="rId13"/>
    <p:sldId id="318" r:id="rId14"/>
    <p:sldId id="319" r:id="rId15"/>
    <p:sldId id="292" r:id="rId16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E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DE41DE-A8A5-490A-8491-9174D625C541}" v="53" dt="2024-02-19T15:42:23.1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4" y="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C6513600-717B-4CBB-9AFE-1F576C1D3E1D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B3282916-D5C0-4231-8654-1B229AFAB67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847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6AA1E-C1C3-A67A-BF67-BC3AD37A4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649E0-AD38-63B7-4666-820F8A765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BEE9F-86AA-0ED9-4A6F-A8F9630B6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Alice and Bob want to talk between them. Sometimes it’s in chat, or on the phone, etc. Sometimes they send nonsense information and sometimes they send secrets.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4C9E5-E8C8-0D15-0928-E5D603814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1820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65905-6411-610C-F7E5-E64B5AF0B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26D53-62FC-58BA-0953-8A4D6AB08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E50A3-6854-38E4-337D-8DCFF81F4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the problem? When the message is out in the open like this, anyone can listen and abuse the information.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FFCD5-A524-FE06-779C-10843659B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22929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85762-978A-6D34-43FA-5B07A9327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00834A-254F-2432-B291-27B82EF23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394E9-7F39-B104-64A2-9BD6A7A16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end goal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D4EBE-2BB7-7455-2B7D-1E133E10C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82115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508BF-9478-A148-671F-359E7F3FA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CA1F2-B036-0C19-0302-27D0341F9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55DD8-55F9-CD9E-F333-230157052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https://learn.microsoft.com/en-us/windows/win32/seccrypto/cryptography-concepts</a:t>
            </a:r>
          </a:p>
          <a:p>
            <a:r>
              <a:rPr lang="en-US" dirty="0"/>
              <a:t>Base concepts – plaintext, ciphertext; encryption and decryption algorithms; encryption and decryption keys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FE4ED-6DFF-9DFB-48EB-8C80C0A88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60537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01ADF-5228-E321-8F1A-43366DC77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8DB5B-AA46-3245-128A-FA11D0172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199C5-CCB7-4CFD-F2C0-DF6A31BCE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https://www.ssl2buy.com/wiki/symmetric-vs-asymmetric-encryption-what-are-differences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76E9B-36B6-709A-30FE-3B1849B78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88172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CB4A4-458B-9E9E-5521-5706E2488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C942A4-8645-37C4-A7B7-A43B26315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2087D-6CB5-51E6-6A6E-CAFA77FFE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https://en.wikipedia.org/wiki/Symmetric-key_algorithm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1A006-ECCE-610C-9F4F-B71D3C4120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46975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26768-8D88-8955-4559-3E0F8C7CE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857D3-DBD1-0281-4F18-2F2E87931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180434-617E-D181-0F58-9D89D0955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https://onecompiler.com/python/424mjnw8j</a:t>
            </a:r>
          </a:p>
          <a:p>
            <a:r>
              <a:rPr lang="en-IL" dirty="0"/>
              <a:t>https://adityatelange.in/writeups/cryptohack/general/xor-starter/</a:t>
            </a:r>
            <a:endParaRPr lang="en-US" dirty="0"/>
          </a:p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3F5A6-5F47-3B3C-D5EF-192F3F7B4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75781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E6E58-4D27-F12D-6564-8A0700DB2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D352B1-DE40-85DE-8F12-52277AEDA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167915-3965-E077-3196-FC010970F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https://www.ssl2buy.com/wiki/symmetric-vs-asymmetric-encryption-what-are-differences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08496-36AF-CC7F-E199-5D0B1FD5C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645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555C3-045D-727D-EAA2-3C4E551E7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D9FF4F-3B03-6F86-BC4F-CAFC1D174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EFFF2-92C0-1C1F-08B9-1EB54C12B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https://en.wikipedia.org/wiki/Public-key_cryptography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3712F-B202-BAFD-AB1B-D88BB9E41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88497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85FB5-53D3-69DC-D757-ACD73DC92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3A4D6-279B-4C5B-8661-B6BE9E19E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9AE2C8-A13A-936B-DD89-A4E9E6C9F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https://learn.microsoft.com/en-us/windows/win32/seccrypto/cryptography-concepts</a:t>
            </a:r>
          </a:p>
          <a:p>
            <a:r>
              <a:rPr lang="en-US" dirty="0"/>
              <a:t>Going back before next slide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4C7F2-3C0D-2ABE-C21D-E4CC566F1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8044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9C25E-6768-419E-A789-0BDF85D28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698AD2-7BE0-5A2D-1AA0-CDA3C4172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81278-D465-9C35-B753-F5EA2C669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https://learn.microsoft.com/en-us/windows/win32/seccrypto/cryptography-concepts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7EE7A-2501-BC0F-97F1-67264E638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1885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0E841-E7FA-97AA-C3D1-C2C39E36D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C553F-92C1-A943-0447-1BCD43763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657AA-F59E-C4A9-946F-7D26ED96B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 dirty="0"/>
              <a:t>https://cryptohack.org/challenges/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DAB3A-52CB-AF42-AB0C-6C468FF9E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19652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FBFCD-CD7C-C1E2-B1E4-5C58DA1E3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7AA1B-D59E-DA73-732E-C3CD69478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8FEB63-8EBE-1453-75A6-AA1A099FE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choose what you do with your time – we recommend for beginners to go over the general challenge, and for more-advanced to try out the challenges on “crypto on the web”.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923B9-BE11-08A5-4A1A-EB53E1B3FA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746714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62865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38C17-4C1D-AB52-2BC1-4A36E3E77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BE161-66F4-EEBB-1C20-2810AC98E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F7320-0961-B671-0172-255B969C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D9749-D852-808D-A2ED-01C4E8678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2CA37-4F64-25C6-611D-93917A888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989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9954-D1D6-7718-7177-77D5EF872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EB9CF-05F0-C3F6-C3C3-B478CB1E8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D71DF-1C76-5E8D-1599-174C3565E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FA699-72FE-7FA0-3E7E-B8A7097B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A286-B4BE-4910-1695-C9B062F3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5351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7A465-3D41-737B-801B-25D307EF3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24413-B577-8217-EDFB-F08A30607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2EB7C-0A38-A1C2-A754-1339FD944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C630F-B5FD-83FE-9F22-C3423BFAC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F5E3A-5808-0DAB-DEBD-F098257F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8449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91F58-9E6F-E4B2-D62B-74AC4037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121D3-C8BF-55E8-D893-934E4C233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155B7-D65F-A037-8B1D-BB87EB0D1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8F540-B7F0-7424-5374-573D8564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B9072-DAF8-8D3F-FEAF-93DC71D8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0F17B-29DE-294B-C83E-0B0CB9982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531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EDC6-D8A4-5E7E-B20A-5A23C3E05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ECB81-E242-59CE-7D88-4078F673B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BF1C4-E841-EC9E-D268-0EC41B1BB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112D5-F6DB-2D2A-3C7E-57906FBC2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FDB25-5EB2-3DA5-4671-CE3D378C3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11F9C9-F52A-0F7E-18E0-4870D2932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D516A-F2C0-96C9-39BA-A7ABE8420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2ACF0-1CE1-A472-7715-E17FC9A0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90509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8AABF-27F4-DA14-A883-57345BB2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6D79A-EEF7-1A80-F984-41DCBFD8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9E968-365E-CB09-DE6A-7932202E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253EF-AB0B-3D99-9A30-72B226A5F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753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466142-403B-DF44-6DF5-63026712E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B12357-4A8D-1BB2-2A5F-1C61AC171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F8D3D-1B76-298E-967E-68B94C9A2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145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674D-2BDC-ABE0-A470-62C83053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90266-96CF-506D-A1B7-B83DD2539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FD8B1-AFBE-FCE3-8C5B-C29A0197A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95871-ED41-128A-B770-C941D30C0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EFA0B-CEF5-A06D-5724-9E8E1A1E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57E69-1C2A-EBCC-2B77-FE5BE951C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597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64760-FE33-CBC7-D73A-F97E90481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A1AB64-EA9D-F6E6-2EF9-FB31DB47A6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D9FD7-3E2C-E04E-D270-39FA198E7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9C36E-77C6-0BE8-8B44-8211711F2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6AA26-5813-2B22-1309-CF5F4F94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F6E25-99E6-8C7F-1543-70BFCF77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570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B138C-9F53-F761-E645-09C907731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3A793-A4DF-0DF5-D75A-720F5B976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E81B6-F970-5EBC-A55A-80ED0F84D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0AF6E-6C99-1EF4-165F-00F149F64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4CDDA-E552-0DA4-A09B-EF8342726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539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7AB57-8468-05CA-69A6-62C520D18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AB0BD-AAE6-7521-05AA-72A9DBCB9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CBAC6-A3A8-F25B-DD5A-A6A61EE76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ED123-21D5-A2D0-8341-CFBED817A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185DD-FA79-EEB7-B1DD-831DD1886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890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FF2E2C-2F89-F10E-EE55-2C63BA348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229FF-8751-BBF7-87BE-C3B5B79DF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E1E1A-35B5-EF73-02C6-D488444D55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09FA5-8937-4EFE-A1A6-BD6EB76E3D9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CF559-E2FD-028F-3A09-70AD4C235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45527-E930-BD04-0C14-0B6D1348D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2809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3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4C4AF9-6CBF-8504-F8FE-8E825ADAD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096" y="2004365"/>
            <a:ext cx="1998805" cy="30284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720B3A-4214-C253-DC62-43F69EE562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6D70DD-DDA5-8E1C-DC90-BA7243AD243D}"/>
              </a:ext>
            </a:extLst>
          </p:cNvPr>
          <p:cNvCxnSpPr>
            <a:cxnSpLocks/>
          </p:cNvCxnSpPr>
          <p:nvPr/>
        </p:nvCxnSpPr>
        <p:spPr>
          <a:xfrm>
            <a:off x="1851500" y="5190890"/>
            <a:ext cx="63900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9394D29-BC34-199F-B7B9-48169D245347}"/>
              </a:ext>
            </a:extLst>
          </p:cNvPr>
          <p:cNvSpPr txBox="1"/>
          <p:nvPr/>
        </p:nvSpPr>
        <p:spPr>
          <a:xfrm>
            <a:off x="2072666" y="5371443"/>
            <a:ext cx="626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Winter 2025/26</a:t>
            </a: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82530B-2F42-6F0E-243B-7A2F08DDA1C0}"/>
              </a:ext>
            </a:extLst>
          </p:cNvPr>
          <p:cNvSpPr txBox="1"/>
          <p:nvPr/>
        </p:nvSpPr>
        <p:spPr>
          <a:xfrm>
            <a:off x="1851500" y="3340650"/>
            <a:ext cx="6261812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dirty="0">
                <a:solidFill>
                  <a:srgbClr val="E1FD21"/>
                </a:solidFill>
                <a:effectLst/>
                <a:latin typeface="Miriam Libre" pitchFamily="2" charset="-79"/>
                <a:ea typeface="3270 CONDENSED" panose="02000509000000000000" pitchFamily="49" charset="0"/>
                <a:cs typeface="Miriam Libre" pitchFamily="2" charset="-79"/>
              </a:rPr>
              <a:t>Session #5</a:t>
            </a:r>
          </a:p>
          <a:p>
            <a:pPr algn="l">
              <a:lnSpc>
                <a:spcPts val="6000"/>
              </a:lnSpc>
            </a:pPr>
            <a:r>
              <a:rPr lang="en-US" sz="6000" b="1" dirty="0">
                <a:solidFill>
                  <a:schemeClr val="bg1"/>
                </a:solidFill>
                <a:effectLst/>
                <a:latin typeface="Miriam Libre" pitchFamily="2" charset="-79"/>
                <a:ea typeface="3270 CONDENSED" panose="02000509000000000000" pitchFamily="49" charset="0"/>
                <a:cs typeface="Miriam Libre" pitchFamily="2" charset="-79"/>
              </a:rPr>
              <a:t>Cryptography</a:t>
            </a:r>
            <a:endParaRPr lang="he-IL" sz="6000" b="1" dirty="0">
              <a:solidFill>
                <a:schemeClr val="bg1"/>
              </a:solidFill>
              <a:effectLst/>
              <a:latin typeface="Miriam Libre" pitchFamily="2" charset="-79"/>
              <a:ea typeface="3270 CONDENSED" panose="02000509000000000000" pitchFamily="49" charset="0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79666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4E1B-F554-5599-3B25-7174FB645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E5582F-C9DC-599A-EC30-CBA959A4B9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BEBABF0-EE1F-8194-A459-5FDC62BCD2E8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83EEB6-6FBC-5649-95C2-AFB372F5E170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0D5C712-FF35-DC9F-15B7-371FA2201AB6}"/>
              </a:ext>
            </a:extLst>
          </p:cNvPr>
          <p:cNvSpPr txBox="1"/>
          <p:nvPr/>
        </p:nvSpPr>
        <p:spPr>
          <a:xfrm>
            <a:off x="707135" y="1505840"/>
            <a:ext cx="8185709" cy="74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endParaRPr lang="en-US" dirty="0" err="1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B56710-FD8F-2BEF-B719-73A548906E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FF1447-FEA1-8D23-D43D-FE1AEE925F54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What is cryptography?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DBE7E8-C6BF-D5E3-CAE8-70650EDDCFF0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latin typeface="Miriam Libre" pitchFamily="2" charset="-79"/>
                <a:cs typeface="Miriam Libre" pitchFamily="2" charset="-79"/>
              </a:rPr>
              <a:t>05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Crypto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AEA0809-C257-C8A3-6C33-D58FFC83C9C2}"/>
              </a:ext>
            </a:extLst>
          </p:cNvPr>
          <p:cNvSpPr/>
          <p:nvPr/>
        </p:nvSpPr>
        <p:spPr>
          <a:xfrm>
            <a:off x="958780" y="1471158"/>
            <a:ext cx="2160396" cy="17886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400" dirty="0"/>
              <a:t>Alice</a:t>
            </a:r>
            <a:endParaRPr lang="he-IL" sz="4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5FED0E-D82F-6D1A-2740-40B339B18F4A}"/>
              </a:ext>
            </a:extLst>
          </p:cNvPr>
          <p:cNvSpPr/>
          <p:nvPr/>
        </p:nvSpPr>
        <p:spPr>
          <a:xfrm>
            <a:off x="8361903" y="1471158"/>
            <a:ext cx="2160396" cy="178860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400" dirty="0"/>
              <a:t>Bob</a:t>
            </a:r>
            <a:endParaRPr lang="he-IL" sz="4400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D5EA0A8-22F2-779D-0DCB-724AA5F63A33}"/>
              </a:ext>
            </a:extLst>
          </p:cNvPr>
          <p:cNvSpPr/>
          <p:nvPr/>
        </p:nvSpPr>
        <p:spPr>
          <a:xfrm>
            <a:off x="3396343" y="2114252"/>
            <a:ext cx="4541855" cy="71343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My credit card number is …</a:t>
            </a:r>
            <a:endParaRPr lang="he-IL" dirty="0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EE87B875-04A5-98D7-2611-D4E6D1DF8C07}"/>
              </a:ext>
            </a:extLst>
          </p:cNvPr>
          <p:cNvSpPr/>
          <p:nvPr/>
        </p:nvSpPr>
        <p:spPr>
          <a:xfrm>
            <a:off x="1113871" y="2777443"/>
            <a:ext cx="1850213" cy="357643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/>
              <a:t>My credit card number is…</a:t>
            </a:r>
            <a:endParaRPr lang="he-IL" sz="1100" dirty="0"/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80DF2947-4F75-6911-9F2B-EF3F7139F66D}"/>
              </a:ext>
            </a:extLst>
          </p:cNvPr>
          <p:cNvSpPr/>
          <p:nvPr/>
        </p:nvSpPr>
        <p:spPr>
          <a:xfrm>
            <a:off x="8516994" y="2745342"/>
            <a:ext cx="1850213" cy="357643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/>
              <a:t>Alice’s credit card number is…</a:t>
            </a:r>
            <a:endParaRPr lang="he-IL" sz="1100" dirty="0"/>
          </a:p>
        </p:txBody>
      </p:sp>
    </p:spTree>
    <p:extLst>
      <p:ext uri="{BB962C8B-B14F-4D97-AF65-F5344CB8AC3E}">
        <p14:creationId xmlns:p14="http://schemas.microsoft.com/office/powerpoint/2010/main" val="2853260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0019-B626-8D04-D5EE-27C1F4EF2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AC718D-6025-F6EC-4ADD-B7DD57B068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44907B8-0808-6E02-60D5-2FC3E98DFB36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96D317-15C0-F941-42BD-35B7163DCAA6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2EF1422-311C-9E43-19BF-EEC874EF1E2F}"/>
              </a:ext>
            </a:extLst>
          </p:cNvPr>
          <p:cNvSpPr txBox="1"/>
          <p:nvPr/>
        </p:nvSpPr>
        <p:spPr>
          <a:xfrm>
            <a:off x="707135" y="1505840"/>
            <a:ext cx="8185709" cy="74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endParaRPr lang="en-US" dirty="0" err="1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885623-0A71-B88E-5C2D-6E244DC6FC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7D839F-2758-A39D-61BD-F7CCC36B9738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What is cryptography?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8C3B13-2224-02A5-51BF-8424EAE058AB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05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Crypto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0FFFBF-63AF-03FE-2653-A3A641277D88}"/>
              </a:ext>
            </a:extLst>
          </p:cNvPr>
          <p:cNvSpPr/>
          <p:nvPr/>
        </p:nvSpPr>
        <p:spPr>
          <a:xfrm>
            <a:off x="958780" y="1471158"/>
            <a:ext cx="2160396" cy="17886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400" dirty="0"/>
              <a:t>Alice</a:t>
            </a:r>
            <a:endParaRPr lang="he-IL" sz="4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26FC32-0982-82D4-B80C-2014712DA434}"/>
              </a:ext>
            </a:extLst>
          </p:cNvPr>
          <p:cNvSpPr/>
          <p:nvPr/>
        </p:nvSpPr>
        <p:spPr>
          <a:xfrm>
            <a:off x="8361903" y="1471158"/>
            <a:ext cx="2160396" cy="178860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400" dirty="0"/>
              <a:t>Bob</a:t>
            </a:r>
            <a:endParaRPr lang="he-IL" sz="4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B988FC-FF08-CDF7-2FCE-6C64981E86EB}"/>
              </a:ext>
            </a:extLst>
          </p:cNvPr>
          <p:cNvSpPr/>
          <p:nvPr/>
        </p:nvSpPr>
        <p:spPr>
          <a:xfrm>
            <a:off x="4587072" y="4215998"/>
            <a:ext cx="2160396" cy="178860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400" dirty="0"/>
              <a:t>Eve</a:t>
            </a:r>
            <a:endParaRPr lang="he-IL" sz="4400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2A750D7-75C8-7BC7-F014-C724F83418AD}"/>
              </a:ext>
            </a:extLst>
          </p:cNvPr>
          <p:cNvSpPr/>
          <p:nvPr/>
        </p:nvSpPr>
        <p:spPr>
          <a:xfrm>
            <a:off x="3396343" y="2114252"/>
            <a:ext cx="4541855" cy="71343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My card number is …</a:t>
            </a:r>
            <a:endParaRPr lang="he-IL" dirty="0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C0EF6021-891E-3FF9-A635-C505B69B4087}"/>
              </a:ext>
            </a:extLst>
          </p:cNvPr>
          <p:cNvSpPr/>
          <p:nvPr/>
        </p:nvSpPr>
        <p:spPr>
          <a:xfrm>
            <a:off x="5266173" y="2777443"/>
            <a:ext cx="733530" cy="138831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4CA3BBBD-DA5D-B337-20FA-1BC040BAA7BA}"/>
              </a:ext>
            </a:extLst>
          </p:cNvPr>
          <p:cNvSpPr/>
          <p:nvPr/>
        </p:nvSpPr>
        <p:spPr>
          <a:xfrm>
            <a:off x="1113871" y="2777443"/>
            <a:ext cx="1850213" cy="357643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/>
              <a:t>My credit card number is…</a:t>
            </a:r>
            <a:endParaRPr lang="he-IL" sz="1100" dirty="0"/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3EFE9F57-1B6C-FD50-D2DF-3B0770E4BA26}"/>
              </a:ext>
            </a:extLst>
          </p:cNvPr>
          <p:cNvSpPr/>
          <p:nvPr/>
        </p:nvSpPr>
        <p:spPr>
          <a:xfrm>
            <a:off x="4742163" y="5491589"/>
            <a:ext cx="1850213" cy="357643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/>
              <a:t>Alice’s credit card number is…</a:t>
            </a:r>
            <a:endParaRPr lang="he-IL" sz="1100" dirty="0"/>
          </a:p>
        </p:txBody>
      </p:sp>
    </p:spTree>
    <p:extLst>
      <p:ext uri="{BB962C8B-B14F-4D97-AF65-F5344CB8AC3E}">
        <p14:creationId xmlns:p14="http://schemas.microsoft.com/office/powerpoint/2010/main" val="613357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9EB0A-9057-963D-A9E1-AC1E9A23D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5A1B6B-AD07-070D-E3D2-D6BEA9C233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B5352D5-CEC0-605C-AE13-743624441D95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6D2171-0602-57DB-1E70-5B850236F1F8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C7A5D30-629A-0F46-E580-187CBD917B6D}"/>
              </a:ext>
            </a:extLst>
          </p:cNvPr>
          <p:cNvSpPr txBox="1"/>
          <p:nvPr/>
        </p:nvSpPr>
        <p:spPr>
          <a:xfrm>
            <a:off x="707135" y="1505840"/>
            <a:ext cx="8185709" cy="74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endParaRPr lang="en-US" dirty="0" err="1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F52445-8CEA-F6BC-A98C-F75CDD7A5D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6D640B-E759-87B0-03BE-D4B8F2B1DADF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What is cryptography?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64F294-8056-967C-189E-3169CAD225D6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05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Crypto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E3F2A56-A6E9-5597-CD72-31EFA8DD4B6E}"/>
              </a:ext>
            </a:extLst>
          </p:cNvPr>
          <p:cNvSpPr/>
          <p:nvPr/>
        </p:nvSpPr>
        <p:spPr>
          <a:xfrm>
            <a:off x="958780" y="1471158"/>
            <a:ext cx="2160396" cy="17886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400" dirty="0"/>
              <a:t>Alice</a:t>
            </a:r>
            <a:endParaRPr lang="he-IL" sz="4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CB2B2A-7275-8FB2-9BDE-F73F2CD8EBB4}"/>
              </a:ext>
            </a:extLst>
          </p:cNvPr>
          <p:cNvSpPr/>
          <p:nvPr/>
        </p:nvSpPr>
        <p:spPr>
          <a:xfrm>
            <a:off x="8361903" y="1471158"/>
            <a:ext cx="2160396" cy="178860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400" dirty="0"/>
              <a:t>Bob</a:t>
            </a:r>
            <a:endParaRPr lang="he-IL" sz="4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9C2783-3392-AA8E-A2DF-44ABF159456D}"/>
              </a:ext>
            </a:extLst>
          </p:cNvPr>
          <p:cNvSpPr/>
          <p:nvPr/>
        </p:nvSpPr>
        <p:spPr>
          <a:xfrm>
            <a:off x="4587072" y="4215998"/>
            <a:ext cx="2160396" cy="1788606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400" dirty="0"/>
              <a:t>Eve</a:t>
            </a:r>
            <a:endParaRPr lang="he-IL" sz="4400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E285C59-3261-969F-CCC8-1E9F8AD87BE0}"/>
              </a:ext>
            </a:extLst>
          </p:cNvPr>
          <p:cNvSpPr/>
          <p:nvPr/>
        </p:nvSpPr>
        <p:spPr>
          <a:xfrm>
            <a:off x="3396343" y="2114252"/>
            <a:ext cx="4541855" cy="71343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##$@$##$@#@##@</a:t>
            </a:r>
            <a:endParaRPr lang="he-IL" dirty="0"/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C73AC74F-8969-F33E-1E36-128CDAB04516}"/>
              </a:ext>
            </a:extLst>
          </p:cNvPr>
          <p:cNvSpPr/>
          <p:nvPr/>
        </p:nvSpPr>
        <p:spPr>
          <a:xfrm>
            <a:off x="5266173" y="2777443"/>
            <a:ext cx="733530" cy="1388313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5" name="Graphic 14" descr="Angel face outline with solid fill">
            <a:extLst>
              <a:ext uri="{FF2B5EF4-FFF2-40B4-BE49-F238E27FC236}">
                <a16:creationId xmlns:a16="http://schemas.microsoft.com/office/drawing/2014/main" id="{66EA88C0-A542-6FD1-58B2-7A5E9D5520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47092" y="1528575"/>
            <a:ext cx="694348" cy="694348"/>
          </a:xfrm>
          <a:prstGeom prst="rect">
            <a:avLst/>
          </a:prstGeom>
        </p:spPr>
      </p:pic>
      <p:pic>
        <p:nvPicPr>
          <p:cNvPr id="17" name="Graphic 16" descr="Angry face outline with solid fill">
            <a:extLst>
              <a:ext uri="{FF2B5EF4-FFF2-40B4-BE49-F238E27FC236}">
                <a16:creationId xmlns:a16="http://schemas.microsoft.com/office/drawing/2014/main" id="{5D89146A-95E3-55BB-C303-7DBAF3EFD5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68923" y="4222814"/>
            <a:ext cx="724087" cy="724087"/>
          </a:xfrm>
          <a:prstGeom prst="rect">
            <a:avLst/>
          </a:prstGeom>
        </p:spPr>
      </p:pic>
      <p:pic>
        <p:nvPicPr>
          <p:cNvPr id="18" name="Graphic 17" descr="Angel face outline with solid fill">
            <a:extLst>
              <a:ext uri="{FF2B5EF4-FFF2-40B4-BE49-F238E27FC236}">
                <a16:creationId xmlns:a16="http://schemas.microsoft.com/office/drawing/2014/main" id="{8C749E94-215B-4053-9007-7EBD709927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58702" y="1531684"/>
            <a:ext cx="694348" cy="694348"/>
          </a:xfrm>
          <a:prstGeom prst="rect">
            <a:avLst/>
          </a:prstGeom>
        </p:spPr>
      </p:pic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A54B11F3-0620-6CDE-4B1D-5F8657FAA7E5}"/>
              </a:ext>
            </a:extLst>
          </p:cNvPr>
          <p:cNvSpPr/>
          <p:nvPr/>
        </p:nvSpPr>
        <p:spPr>
          <a:xfrm>
            <a:off x="1113871" y="2777443"/>
            <a:ext cx="1850213" cy="357643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/>
              <a:t>My credit card number is…</a:t>
            </a:r>
            <a:endParaRPr lang="he-IL" sz="1100" dirty="0"/>
          </a:p>
        </p:txBody>
      </p:sp>
      <p:sp>
        <p:nvSpPr>
          <p:cNvPr id="20" name="Speech Bubble: Rectangle with Corners Rounded 19">
            <a:extLst>
              <a:ext uri="{FF2B5EF4-FFF2-40B4-BE49-F238E27FC236}">
                <a16:creationId xmlns:a16="http://schemas.microsoft.com/office/drawing/2014/main" id="{7942110C-DD3D-7B72-82A0-7D8959D70280}"/>
              </a:ext>
            </a:extLst>
          </p:cNvPr>
          <p:cNvSpPr/>
          <p:nvPr/>
        </p:nvSpPr>
        <p:spPr>
          <a:xfrm>
            <a:off x="8516994" y="2765947"/>
            <a:ext cx="1850213" cy="357643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100" dirty="0"/>
              <a:t>Alice’s credit card number is…</a:t>
            </a:r>
            <a:endParaRPr lang="he-IL" sz="1100" dirty="0"/>
          </a:p>
        </p:txBody>
      </p:sp>
    </p:spTree>
    <p:extLst>
      <p:ext uri="{BB962C8B-B14F-4D97-AF65-F5344CB8AC3E}">
        <p14:creationId xmlns:p14="http://schemas.microsoft.com/office/powerpoint/2010/main" val="3554495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112FF-51BB-F5A7-BCBB-F038C1D03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7712B7-25A9-EEE1-9412-A206B7CB44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1A9CEB9-E34B-77E1-0C9A-2F24B428C629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04583C-76E8-9954-A2A0-BD096DB20CF7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DC9FDA4-4AFD-3089-A642-A5AE312E512A}"/>
              </a:ext>
            </a:extLst>
          </p:cNvPr>
          <p:cNvSpPr txBox="1"/>
          <p:nvPr/>
        </p:nvSpPr>
        <p:spPr>
          <a:xfrm>
            <a:off x="707135" y="1505840"/>
            <a:ext cx="8185709" cy="74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endParaRPr lang="en-US" dirty="0" err="1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D7852B-75A2-A94C-4DB7-6DDC105B4F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E7EA7D-04AD-C2A9-C2F6-78756E813D08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What is cryptography?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4FB66-1484-72F0-D57E-F06CF09D1390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05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Crypto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0" name="Picture 9" descr="A diagram of a message&#10;&#10;Description automatically generated with medium confidence">
            <a:extLst>
              <a:ext uri="{FF2B5EF4-FFF2-40B4-BE49-F238E27FC236}">
                <a16:creationId xmlns:a16="http://schemas.microsoft.com/office/drawing/2014/main" id="{7E637C60-80B5-68BD-9CA5-57C624C5A8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363" y="2100221"/>
            <a:ext cx="7573880" cy="221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485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BABEA-0AAD-80DE-2619-1A3A6CD54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B12731-C3EE-4682-DDA9-90E3E530BC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70B4E4-4397-1E98-8C9F-989D97D7F256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64B808-9B0C-FCA0-A1AD-BAFE9F78AEA0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610F091-71C2-1E27-B090-D14742A8303D}"/>
              </a:ext>
            </a:extLst>
          </p:cNvPr>
          <p:cNvSpPr txBox="1"/>
          <p:nvPr/>
        </p:nvSpPr>
        <p:spPr>
          <a:xfrm>
            <a:off x="707135" y="1505840"/>
            <a:ext cx="8185709" cy="74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endParaRPr lang="en-US" dirty="0" err="1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068793-BDD2-F0EA-14F3-FFAA33F600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8E374F-D5C2-5D2E-26BF-1D567D5F2C98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Symmetric encryption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3BF23-29EE-CB13-1BB7-24842C97EF96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05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Crypto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6" name="Picture 15" descr="A diagram of keys and a keyword&#10;&#10;Description automatically generated">
            <a:extLst>
              <a:ext uri="{FF2B5EF4-FFF2-40B4-BE49-F238E27FC236}">
                <a16:creationId xmlns:a16="http://schemas.microsoft.com/office/drawing/2014/main" id="{8496C162-4EFB-6447-3700-7A21D9EE7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524" y="1551690"/>
            <a:ext cx="7580952" cy="4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904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926C1-8BC1-1B5B-0D88-C6D8D0E77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7A266F-709F-007A-8ADB-0320F57400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0855C4-534E-2815-2B5A-7F1497E9CBFE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E0506E-7C04-E1F1-53C0-770B7AA85BBF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E079B86-1B7E-1BB4-12BA-E57AF658D156}"/>
              </a:ext>
            </a:extLst>
          </p:cNvPr>
          <p:cNvSpPr txBox="1"/>
          <p:nvPr/>
        </p:nvSpPr>
        <p:spPr>
          <a:xfrm>
            <a:off x="707135" y="1505840"/>
            <a:ext cx="8185709" cy="74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endParaRPr lang="en-US" dirty="0" err="1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BC3102-9A33-E4B2-73FC-97E4927CEF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403FE2-02E1-D946-794D-A079E987A984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XOR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618981-FFE9-69BD-D8E0-59474EEF5072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05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Crypto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3" name="Picture 2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E2ADB284-EA1C-6989-A5C5-49C3778658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060" y="1473122"/>
            <a:ext cx="2934369" cy="27057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B21A56-2E2E-895B-0BEF-00C359E2A8CF}"/>
              </a:ext>
            </a:extLst>
          </p:cNvPr>
          <p:cNvSpPr txBox="1"/>
          <p:nvPr/>
        </p:nvSpPr>
        <p:spPr>
          <a:xfrm>
            <a:off x="448055" y="4574269"/>
            <a:ext cx="9390888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2FE21"/>
                </a:solidFill>
              </a:rPr>
              <a:t>We XOR longer binary numbers bit by bit: 0110^1010 = 1100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2FE21"/>
                </a:solidFill>
              </a:rPr>
              <a:t>We can XOR integers by converting them from decimal to binary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2FE21"/>
                </a:solidFill>
              </a:rPr>
              <a:t>We can XOR strings by converting each character to its ASCII value</a:t>
            </a:r>
            <a:endParaRPr lang="he-IL" dirty="0">
              <a:solidFill>
                <a:srgbClr val="E2FE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366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5BA3B-1C75-AA40-94DB-7983B1532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4745C3-21FE-AA61-24B3-EAE6A6B5A6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4F34196-F97B-5FF4-9003-764A035C37A8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4D30CB-1B6D-013E-492F-62E79F327CF9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0515BAF-8B55-3813-3C5B-2ADEA2B6A47B}"/>
              </a:ext>
            </a:extLst>
          </p:cNvPr>
          <p:cNvSpPr txBox="1"/>
          <p:nvPr/>
        </p:nvSpPr>
        <p:spPr>
          <a:xfrm>
            <a:off x="707135" y="1505840"/>
            <a:ext cx="8185709" cy="74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endParaRPr lang="en-US" dirty="0" err="1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674DFE-16F3-7BE7-2071-008DB5B08D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D3A1C4-BBBE-7BA8-A7F0-7F92236FBBAF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XOR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FF813E-82BD-E993-352D-FFB7CADC4D8D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05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Crypto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373C0D-6F38-7A26-AE7D-9B4D8ECFC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677" y="3429000"/>
            <a:ext cx="10002646" cy="14480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C67821-DB83-FE92-9CD4-EDCC506F81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113" y="1370525"/>
            <a:ext cx="4620270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18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E096E-EE60-97A9-BC07-F003E916B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2C717E-A248-7B48-10AA-9C0CFD300A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1AC2300-80F2-E669-7575-7B992ACE67BB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54D2EF-E1DF-1065-8474-7565F8D60BF3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13AC59F-D32C-5214-82DD-5D31EEBE4D61}"/>
              </a:ext>
            </a:extLst>
          </p:cNvPr>
          <p:cNvSpPr txBox="1"/>
          <p:nvPr/>
        </p:nvSpPr>
        <p:spPr>
          <a:xfrm>
            <a:off x="707135" y="1505840"/>
            <a:ext cx="8185709" cy="74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endParaRPr lang="en-US" dirty="0" err="1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EFAECF-EDF5-5587-1C7B-A01701FC7A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1B3E34-ADDF-0834-5F28-0B87E4969A95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Asymmetric Encryption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198DC9-2B70-2BE5-93F1-7350921B7082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05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Crypto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0" name="Picture 9" descr="A diagram of keys and a key system&#10;&#10;Description automatically generated">
            <a:extLst>
              <a:ext uri="{FF2B5EF4-FFF2-40B4-BE49-F238E27FC236}">
                <a16:creationId xmlns:a16="http://schemas.microsoft.com/office/drawing/2014/main" id="{EF8E7F73-F23A-B81D-CB45-47E85C4FEB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524" y="1357571"/>
            <a:ext cx="7580952" cy="4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683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B8730-BB60-E1C7-252E-356E534A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A5F9F1-1B4D-DCEF-A5C0-5E4A7FA9DE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A97959-E198-40F4-C778-342E45130739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6F4145-8B90-CD36-750A-B08D085AE8A1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1D86072-E863-D944-7A15-91BA7656648F}"/>
              </a:ext>
            </a:extLst>
          </p:cNvPr>
          <p:cNvSpPr txBox="1"/>
          <p:nvPr/>
        </p:nvSpPr>
        <p:spPr>
          <a:xfrm>
            <a:off x="707135" y="1505840"/>
            <a:ext cx="8185709" cy="74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endParaRPr lang="en-US" dirty="0" err="1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C1418F-2A60-1744-ACEB-C638F09B52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5A8AF8-4D2A-57B7-F70A-D980A2ECBA85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Asymmetric Encryption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690D5-B920-0A58-26CA-0A46A0510564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05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Crypto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3" name="Picture 2" descr="A group of keys with different colored signs&#10;&#10;Description automatically generated">
            <a:extLst>
              <a:ext uri="{FF2B5EF4-FFF2-40B4-BE49-F238E27FC236}">
                <a16:creationId xmlns:a16="http://schemas.microsoft.com/office/drawing/2014/main" id="{CF690692-E069-D52A-99C7-74E312A194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097" y="1358934"/>
            <a:ext cx="4781550" cy="4674153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685946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BB18A-2562-4A5E-020D-06F0E4731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243FF8-6872-4AE7-18A2-25D34D545D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27369B3-DDEA-249A-7AA3-3DDA5072E195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8BB5453-BDA3-22D7-EA42-2218791389B6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0F9E00A-C336-6154-A909-57D9F06E477E}"/>
              </a:ext>
            </a:extLst>
          </p:cNvPr>
          <p:cNvSpPr txBox="1"/>
          <p:nvPr/>
        </p:nvSpPr>
        <p:spPr>
          <a:xfrm>
            <a:off x="707135" y="1505840"/>
            <a:ext cx="8185709" cy="74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endParaRPr lang="en-US" dirty="0" err="1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609AD0-859D-855D-FC65-93222C5D20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FC19E8-2F63-CF7E-53C2-CC95D7336254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What is cryptography?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A51F60-DD7A-AF47-0335-AD281F91D0AA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</a:t>
            </a:r>
            <a:r>
              <a:rPr lang="en-US" sz="1000" dirty="0">
                <a:solidFill>
                  <a:srgbClr val="E2FE21"/>
                </a:solidFill>
                <a:latin typeface="Miriam Libre" pitchFamily="2" charset="-79"/>
                <a:cs typeface="Miriam Libre" pitchFamily="2" charset="-79"/>
              </a:rPr>
              <a:t>2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Crypto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0" name="Picture 9" descr="A diagram of a message&#10;&#10;Description automatically generated with medium confidence">
            <a:extLst>
              <a:ext uri="{FF2B5EF4-FFF2-40B4-BE49-F238E27FC236}">
                <a16:creationId xmlns:a16="http://schemas.microsoft.com/office/drawing/2014/main" id="{1C8C3E7F-C4E1-D14B-9A74-C38A31F565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363" y="2100221"/>
            <a:ext cx="7573880" cy="221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561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C827C-44ED-6B85-B56E-D49FEB9E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6D6B15-71DE-A982-3DB3-A6B1118074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07CC925-7E33-E7E6-BDE7-364F446D22D1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CB9F87-A114-32C6-1D94-E83FDE7C9069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661D6E4-E878-EEDB-3EB4-D7ECEA81D9C3}"/>
              </a:ext>
            </a:extLst>
          </p:cNvPr>
          <p:cNvSpPr txBox="1"/>
          <p:nvPr/>
        </p:nvSpPr>
        <p:spPr>
          <a:xfrm>
            <a:off x="707135" y="1505840"/>
            <a:ext cx="8185709" cy="74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endParaRPr lang="en-US" dirty="0" err="1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A11D22-3A39-3C59-707F-E0FBE70D7E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84BAD3-F459-A1C4-6307-357F5CF1ED29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Cryptography in CTFs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C8BB76-5706-76BC-29F0-BAD15657BD10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05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Crypto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0" name="Picture 9" descr="A diagram of a message&#10;&#10;Description automatically generated with medium confidence">
            <a:extLst>
              <a:ext uri="{FF2B5EF4-FFF2-40B4-BE49-F238E27FC236}">
                <a16:creationId xmlns:a16="http://schemas.microsoft.com/office/drawing/2014/main" id="{1391BD51-E3AA-EBC6-7AD1-C1EF4E5C96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873" y="1909684"/>
            <a:ext cx="8275033" cy="24184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096F49-83A9-5AD7-7EF2-6AA3C26EEAED}"/>
              </a:ext>
            </a:extLst>
          </p:cNvPr>
          <p:cNvSpPr txBox="1"/>
          <p:nvPr/>
        </p:nvSpPr>
        <p:spPr>
          <a:xfrm>
            <a:off x="1523664" y="2286007"/>
            <a:ext cx="1632859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dirty="0">
                <a:highlight>
                  <a:srgbClr val="E2FE21"/>
                </a:highlight>
              </a:rPr>
              <a:t>Flag</a:t>
            </a:r>
            <a:endParaRPr lang="he-IL" sz="4400" dirty="0">
              <a:highlight>
                <a:srgbClr val="E2FE21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E0D653-E840-1368-BBA5-815F69DD073F}"/>
              </a:ext>
            </a:extLst>
          </p:cNvPr>
          <p:cNvSpPr txBox="1"/>
          <p:nvPr/>
        </p:nvSpPr>
        <p:spPr>
          <a:xfrm>
            <a:off x="8692684" y="2255052"/>
            <a:ext cx="1632859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400" dirty="0">
                <a:highlight>
                  <a:srgbClr val="E2FE21"/>
                </a:highlight>
              </a:rPr>
              <a:t>Flag</a:t>
            </a:r>
            <a:endParaRPr lang="he-IL" sz="4400" dirty="0">
              <a:highlight>
                <a:srgbClr val="E2FE21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CE065B-3704-B85C-7DD0-ADBE60009F9C}"/>
              </a:ext>
            </a:extLst>
          </p:cNvPr>
          <p:cNvSpPr txBox="1"/>
          <p:nvPr/>
        </p:nvSpPr>
        <p:spPr>
          <a:xfrm>
            <a:off x="2889278" y="2278051"/>
            <a:ext cx="5872167" cy="304698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200" dirty="0">
                <a:highlight>
                  <a:srgbClr val="E2FE21"/>
                </a:highlight>
              </a:rPr>
              <a:t>Given an encrypted message and the algorithm,</a:t>
            </a:r>
          </a:p>
          <a:p>
            <a:pPr algn="ctr"/>
            <a:endParaRPr lang="en-US" sz="3200" dirty="0">
              <a:highlight>
                <a:srgbClr val="E2FE21"/>
              </a:highlight>
            </a:endParaRPr>
          </a:p>
          <a:p>
            <a:pPr algn="ctr"/>
            <a:endParaRPr lang="en-US" sz="3200" dirty="0">
              <a:highlight>
                <a:srgbClr val="E2FE21"/>
              </a:highlight>
            </a:endParaRPr>
          </a:p>
          <a:p>
            <a:pPr algn="ctr"/>
            <a:r>
              <a:rPr lang="en-US" sz="3200" dirty="0">
                <a:highlight>
                  <a:srgbClr val="E2FE21"/>
                </a:highlight>
              </a:rPr>
              <a:t>We need to find the keys to get the flag.</a:t>
            </a:r>
          </a:p>
        </p:txBody>
      </p:sp>
    </p:spTree>
    <p:extLst>
      <p:ext uri="{BB962C8B-B14F-4D97-AF65-F5344CB8AC3E}">
        <p14:creationId xmlns:p14="http://schemas.microsoft.com/office/powerpoint/2010/main" val="1315694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63EE3-BA01-3E92-CFB2-5C6E1870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DD2B38-5EBC-CA56-4601-89ADE0A380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82296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E405FAD-4F46-C6D9-F6E7-19D7AA32C829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9BD7C5-4AA1-B69F-CE5A-D14A0AB390B5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A1D0501-DBDE-4659-9104-79E99F2A689B}"/>
              </a:ext>
            </a:extLst>
          </p:cNvPr>
          <p:cNvSpPr txBox="1"/>
          <p:nvPr/>
        </p:nvSpPr>
        <p:spPr>
          <a:xfrm>
            <a:off x="707135" y="1505840"/>
            <a:ext cx="8185709" cy="74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endParaRPr lang="en-US" dirty="0" err="1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828D1C-D07C-CA78-0CED-35FE6697A9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998214-EACB-DA3A-8082-8EF3240615BC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Practice time!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EE803D-0260-3EF4-17B6-FE4E504EC724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05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Crypto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DFAE0D4-9E3E-DD74-C325-6D2E2E0EA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0977" y="1505840"/>
            <a:ext cx="4172532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843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ADA5E-D8AD-FFAA-47E9-3EDCED3E9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E41B1D-DA04-DD2E-4170-43AA7E037D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82296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4E2BFB8-924F-1721-42B2-0B42C92DA5C6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4EC7CA-EAEE-2208-33E9-3EDF362393C1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5E1DFB2-6295-AE9D-61D6-6483B7849D72}"/>
              </a:ext>
            </a:extLst>
          </p:cNvPr>
          <p:cNvSpPr txBox="1"/>
          <p:nvPr/>
        </p:nvSpPr>
        <p:spPr>
          <a:xfrm>
            <a:off x="707135" y="1505840"/>
            <a:ext cx="8185709" cy="74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60"/>
              </a:lnSpc>
            </a:pP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>
              <a:lnSpc>
                <a:spcPts val="2560"/>
              </a:lnSpc>
            </a:pPr>
            <a:endParaRPr lang="en-US" dirty="0" err="1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43ABE9-62B6-8644-C4D7-F144E8D1F2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509DA2-B44B-0F26-233E-BBA7EED0373D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Practice time!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C9E96-3E3A-E805-0BEA-EC472666235F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05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Crypto</a:t>
            </a:r>
            <a:endParaRPr lang="en-IL" sz="10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EDD360-5C37-DFEF-D730-61A99CD36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35" y="1612793"/>
            <a:ext cx="10390632" cy="42611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1C6F994-B499-472E-72BD-C62233264AB0}"/>
              </a:ext>
            </a:extLst>
          </p:cNvPr>
          <p:cNvSpPr/>
          <p:nvPr/>
        </p:nvSpPr>
        <p:spPr>
          <a:xfrm>
            <a:off x="2435656" y="1664208"/>
            <a:ext cx="1706575" cy="20817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667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2965094" y="4337270"/>
            <a:ext cx="6261812" cy="919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>
              <a:lnSpc>
                <a:spcPts val="6000"/>
              </a:lnSpc>
            </a:pPr>
            <a:r>
              <a:rPr lang="en-US" sz="6500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Thank You</a:t>
            </a:r>
            <a:endParaRPr lang="he-IL" sz="6500" b="1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EDE1B2-AA06-4838-05EB-AC57A1D6F4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E494CD-45EB-20D5-25E7-31FAD1644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0" y="2171772"/>
            <a:ext cx="1333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52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0" id="{ADB8F090-2687-4174-8D2A-5F5E6E56C21D}" vid="{7C8A1999-DC01-4F8D-AE95-63F5F8C774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- CTF</Template>
  <TotalTime>2066</TotalTime>
  <Words>444</Words>
  <Application>Microsoft Office PowerPoint</Application>
  <PresentationFormat>Widescreen</PresentationFormat>
  <Paragraphs>86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Miriam Libre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Hili Levy</dc:creator>
  <cp:lastModifiedBy>Noam Ben-Shimon</cp:lastModifiedBy>
  <cp:revision>5</cp:revision>
  <dcterms:created xsi:type="dcterms:W3CDTF">2024-01-22T16:29:49Z</dcterms:created>
  <dcterms:modified xsi:type="dcterms:W3CDTF">2025-11-14T14:04:31Z</dcterms:modified>
</cp:coreProperties>
</file>