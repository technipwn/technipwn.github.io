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66" r:id="rId2"/>
    <p:sldId id="305" r:id="rId3"/>
    <p:sldId id="306" r:id="rId4"/>
    <p:sldId id="307" r:id="rId5"/>
    <p:sldId id="308" r:id="rId6"/>
    <p:sldId id="257" r:id="rId7"/>
    <p:sldId id="259" r:id="rId8"/>
    <p:sldId id="312" r:id="rId9"/>
    <p:sldId id="309" r:id="rId10"/>
    <p:sldId id="323" r:id="rId11"/>
    <p:sldId id="322" r:id="rId12"/>
    <p:sldId id="310" r:id="rId13"/>
    <p:sldId id="311" r:id="rId14"/>
    <p:sldId id="313" r:id="rId15"/>
    <p:sldId id="320" r:id="rId16"/>
    <p:sldId id="321" r:id="rId17"/>
    <p:sldId id="314" r:id="rId18"/>
    <p:sldId id="319" r:id="rId19"/>
    <p:sldId id="292" r:id="rId20"/>
    <p:sldId id="317" r:id="rId21"/>
    <p:sldId id="316" r:id="rId22"/>
    <p:sldId id="315" r:id="rId23"/>
    <p:sldId id="318" r:id="rId2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  <a:srgbClr val="E1FD21"/>
    <a:srgbClr val="CACACA"/>
    <a:srgbClr val="242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81B1C-CF05-0F44-A33E-A38439A627E4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715B0-74F3-B64E-A730-C7F3E6BEB91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178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verthewire.org/wargames/narnia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xploit.education/phoenix/" TargetMode="External"/><Relationship Id="rId4" Type="http://schemas.openxmlformats.org/officeDocument/2006/relationships/hyperlink" Target="https://nmap.org/download.html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verthewire.org/wargames/narnia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203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2472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0021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1718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OverTheWire Narnia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To connect: ssh narnia0@narnia.labs.overthewire.org -p 2226</a:t>
            </a:r>
          </a:p>
          <a:p>
            <a:r>
              <a:rPr lang="en-US"/>
              <a:t>Username: narnia0
Password: narnia0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+mn-lt"/>
              </a:rPr>
              <a:t>Then </a:t>
            </a:r>
            <a:r>
              <a:rPr lang="en-US"/>
              <a:t>everything </a:t>
            </a:r>
            <a:r>
              <a:rPr lang="en-US">
                <a:cs typeface="+mn-lt"/>
              </a:rPr>
              <a:t>is under: </a:t>
            </a:r>
            <a:r>
              <a:rPr lang="en-US"/>
              <a:t>ls -l /</a:t>
            </a:r>
            <a:r>
              <a:rPr lang="en-US" err="1"/>
              <a:t>narnia</a:t>
            </a:r>
            <a:endParaRPr lang="en-US" err="1">
              <a:ea typeface="Calibri"/>
              <a:cs typeface="Calibri"/>
            </a:endParaRPr>
          </a:p>
          <a:p>
            <a:r>
              <a:rPr lang="en-US">
                <a:cs typeface="+mn-lt"/>
              </a:rPr>
              <a:t>In order to read the files: vim/cat</a:t>
            </a:r>
            <a:endParaRPr lang="en-US">
              <a:ea typeface="Calibri"/>
              <a:cs typeface="+mn-lt"/>
            </a:endParaRPr>
          </a:p>
          <a:p>
            <a:r>
              <a:rPr lang="en-US">
                <a:cs typeface="+mn-lt"/>
              </a:rPr>
              <a:t>In order to run the binary code: ./</a:t>
            </a:r>
            <a:r>
              <a:rPr lang="en-US" err="1">
                <a:cs typeface="+mn-lt"/>
              </a:rPr>
              <a:t>narnia</a:t>
            </a:r>
            <a:r>
              <a:rPr lang="en-US">
                <a:cs typeface="+mn-lt"/>
              </a:rPr>
              <a:t>&lt;num&gt;</a:t>
            </a:r>
            <a:br>
              <a:rPr lang="en-US">
                <a:ea typeface="Calibri"/>
                <a:cs typeface="+mn-lt"/>
              </a:rPr>
            </a:b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+mn-lt"/>
            </a:endParaRPr>
          </a:p>
          <a:p>
            <a:r>
              <a:rPr lang="en-US" b="1"/>
              <a:t>Install </a:t>
            </a:r>
            <a:r>
              <a:rPr lang="en-US" b="1" err="1"/>
              <a:t>Netcat</a:t>
            </a:r>
            <a:r>
              <a:rPr lang="en-US" b="1"/>
              <a:t> on Windows: </a:t>
            </a:r>
            <a:r>
              <a:rPr lang="en-US">
                <a:hlinkClick r:id="rId4"/>
              </a:rPr>
              <a:t>https://nmap.org/download.html</a:t>
            </a:r>
            <a:endParaRPr lang="en-US"/>
          </a:p>
          <a:p>
            <a:endParaRPr lang="en-US">
              <a:ea typeface="Calibri"/>
              <a:cs typeface="+mn-lt"/>
            </a:endParaRPr>
          </a:p>
          <a:p>
            <a:endParaRPr lang="en-US">
              <a:ea typeface="Calibri"/>
              <a:cs typeface="+mn-lt"/>
            </a:endParaRPr>
          </a:p>
          <a:p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Exploit education - Phoenix -</a:t>
            </a:r>
            <a:r>
              <a:rPr lang="en-US"/>
              <a:t> need </a:t>
            </a:r>
            <a:r>
              <a:rPr lang="en-US" err="1"/>
              <a:t>wsl</a:t>
            </a:r>
            <a:r>
              <a:rPr lang="en-US"/>
              <a:t> and download image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tar -</a:t>
            </a:r>
            <a:r>
              <a:rPr lang="en-US" err="1"/>
              <a:t>xf</a:t>
            </a:r>
            <a:r>
              <a:rPr lang="en-US"/>
              <a:t> exploit-education-phoenix-amd64-v1.0.0-alpha-3.tar.xz</a:t>
            </a:r>
            <a:br>
              <a:rPr lang="en-US">
                <a:cs typeface="+mn-lt"/>
              </a:rPr>
            </a:b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397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OverTheWire Narnia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To connect: ssh narnia0@narnia.labs.overthewire.org -p 2226</a:t>
            </a:r>
          </a:p>
          <a:p>
            <a:r>
              <a:rPr lang="en-US"/>
              <a:t>Username: narnia0
Password: narnia0</a:t>
            </a:r>
          </a:p>
          <a:p>
            <a:r>
              <a:rPr lang="en-US">
                <a:cs typeface="+mn-lt"/>
              </a:rPr>
              <a:t>Then </a:t>
            </a:r>
            <a:r>
              <a:rPr lang="en-US"/>
              <a:t>everything </a:t>
            </a:r>
            <a:r>
              <a:rPr lang="en-US">
                <a:cs typeface="+mn-lt"/>
              </a:rPr>
              <a:t>is under: </a:t>
            </a:r>
            <a:r>
              <a:rPr lang="en-US"/>
              <a:t>ls -l /</a:t>
            </a:r>
            <a:r>
              <a:rPr lang="en-US" err="1"/>
              <a:t>narnia</a:t>
            </a:r>
            <a:endParaRPr lang="en-US" err="1">
              <a:ea typeface="Calibri"/>
              <a:cs typeface="Calibri"/>
            </a:endParaRPr>
          </a:p>
          <a:p>
            <a:r>
              <a:rPr lang="en-US">
                <a:cs typeface="+mn-lt"/>
              </a:rPr>
              <a:t>In order to read the files: vim/cat</a:t>
            </a:r>
          </a:p>
          <a:p>
            <a:r>
              <a:rPr lang="en-US">
                <a:cs typeface="+mn-lt"/>
              </a:rPr>
              <a:t>In order to run the binary code: ./narnia&lt;num&gt;</a:t>
            </a:r>
            <a:br>
              <a:rPr lang="en-US">
                <a:ea typeface="Calibri"/>
                <a:cs typeface="+mn-lt"/>
              </a:rPr>
            </a:b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+mn-lt"/>
            </a:endParaRPr>
          </a:p>
          <a:p>
            <a:r>
              <a:rPr lang="en-US" b="1"/>
              <a:t>Install </a:t>
            </a:r>
            <a:r>
              <a:rPr lang="en-US" b="1" err="1"/>
              <a:t>Netcat</a:t>
            </a:r>
            <a:r>
              <a:rPr lang="en-US" b="1"/>
              <a:t> on Windows: </a:t>
            </a:r>
            <a:r>
              <a:rPr lang="en-US"/>
              <a:t>https://nmap.org/download.html</a:t>
            </a:r>
          </a:p>
          <a:p>
            <a:br>
              <a:rPr lang="en-US">
                <a:cs typeface="+mn-lt"/>
              </a:rPr>
            </a:b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3919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2865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24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6952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4184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02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5E9E-4F38-4008-FC07-B9D93041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DA19-FAC9-0FD7-BAEA-D33742EE9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167C-AD4B-E539-88F6-7CC74491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455A-C314-6C47-2615-3003158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BAA2-C063-397C-3FBF-C1F2C3A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818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5E29-8ABE-4749-6970-39FF5E0A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1F52-CF88-1929-6B8C-4C8F5773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24720-A70F-7736-DEB4-2089ABAB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F58F-9B1A-57C2-DE71-C2A876C4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6248-356F-A677-D98E-1CEE8363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754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AFDE-3277-B5AC-B7A7-8A6A9E23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AC05-F502-8D42-B690-688CE7C2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4EFB-7E34-35D7-5D07-35F2283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AEC8-F977-2F41-2CAD-46CA10EF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6CC9-EB60-2FC1-F1C3-325FC86C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20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CD5A-E230-A954-4CCC-434C6720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6749-9277-2566-1F0A-23A846700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8A8C-DBCB-50A1-D33B-6B282B123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614D5-E93D-BE04-2D7F-1A508CBE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FB3C2-4F64-3537-72BE-9F50DC7F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C1213-C03E-D639-79A3-04DA6851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202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AE8C-6FDA-BE19-DCE3-3BD308AA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C048F-7517-2662-B606-D2B218AF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08264-C9DB-11A0-214F-2C5E2527F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5F375-1D78-10E0-0B11-87037CD47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DC9A6-D883-0DD9-886C-A59CE4C5C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71A5E-75D4-8FDF-B300-292ABA1B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8DFF9-5236-B29B-63FE-596F5117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41FF7-20CE-491E-7EFE-27360F9A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0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FCA3-4188-F926-D0D7-CC334A94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3095-8076-2A76-F8D7-E863175D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6A2F1-D15C-6B58-86B2-8F657B7B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FA665-696D-A3F4-4A11-988832C7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548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A5FBC-3932-EDC0-DE5A-1BCCC27B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C69-B32C-8C2A-5AA0-7001A97D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7430-6E5A-07D5-EF51-CF10C16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652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7067-AD13-7B44-FF30-9D27D0AF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325B-FCA7-0ABA-EE0B-4C6C7EEC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7363E-7471-6EF2-7E01-010E5419A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C1AE-A8BD-4A3F-79B1-B5C47CCB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B3946-DEB7-F715-99AA-00291658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E1AE-91B9-6557-BBFE-A21DC6DF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830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26C4-1335-F787-B666-BEF9285B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19E41-F91B-BE80-C8A2-3332C3E59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B77E7-5892-8985-4396-1324BDDF7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07B15-23BA-4BAD-CB04-3AC9F9FE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41F28-A60B-68F6-0A6C-DE488314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B09E9-8C29-93A8-BA78-7D8182F6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10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9C43-8061-EE6C-1B5A-F00114F6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59A86-1141-99C9-BDB8-6CCD3B0C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63DF8-C58E-CB5D-E4B4-ECF8DE2B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D1815-680E-CA66-72F3-5B93608F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C2A0-3E58-7E2B-B473-C5B1D562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613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7F013-8549-0676-11FD-6F103704C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42FA9-65FB-69A5-60E1-2B0B4379C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627B-323E-27B2-00D4-6550681C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7913-33F9-8AE1-49E5-7235C65F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D308B-3051-7C10-4285-1B01246E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03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92578-C2F0-CCB8-512F-F1CD25F5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DB365-89B4-93E9-774E-A4700E5D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0984-0714-AFE8-8FB1-1C90EE7C9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7A94B-BE45-3BBC-FB43-57874ECC0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FB72-B5EA-BE12-58BF-13B4E5F9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031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ctflearn.com/challenge/1/brow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ackmethod.com/overthewire-narnia-0/?v=4605f628f91d" TargetMode="External"/><Relationship Id="rId5" Type="http://schemas.openxmlformats.org/officeDocument/2006/relationships/hyperlink" Target="https://overthewire.org/wargames/narnia/" TargetMode="Externa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xploit.education/phoenix/" TargetMode="External"/><Relationship Id="rId5" Type="http://schemas.openxmlformats.org/officeDocument/2006/relationships/hyperlink" Target="https://pwnable.kr/play.php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3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726" y="2004365"/>
            <a:ext cx="1403819" cy="2214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072665" y="2003876"/>
            <a:ext cx="639003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spc="300">
                <a:solidFill>
                  <a:srgbClr val="E1FD21"/>
                </a:solidFill>
                <a:latin typeface="Handjet SemiBold Square Single"/>
                <a:ea typeface="3270 CONDENSED" panose="02000509000000000000" pitchFamily="49" charset="0"/>
                <a:cs typeface="Handjet SemiBold Square Single" pitchFamily="2" charset="0"/>
              </a:rPr>
              <a:t>Understanding Binary Exploitation</a:t>
            </a:r>
            <a:endParaRPr lang="en-US" sz="5400" b="1" spc="300">
              <a:solidFill>
                <a:srgbClr val="E1FD21"/>
              </a:solidFill>
              <a:effectLst/>
              <a:latin typeface="Handjet SemiBold Square Single"/>
              <a:ea typeface="3270 CONDENSED" panose="02000509000000000000" pitchFamily="49" charset="0"/>
              <a:cs typeface="Handjet SemiBold Square Single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55F811-1B73-0EAE-5D9B-3DC714A2CA29}"/>
              </a:ext>
            </a:extLst>
          </p:cNvPr>
          <p:cNvSpPr txBox="1"/>
          <p:nvPr/>
        </p:nvSpPr>
        <p:spPr>
          <a:xfrm>
            <a:off x="2072666" y="4343546"/>
            <a:ext cx="626181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spc="300">
                <a:solidFill>
                  <a:schemeClr val="bg1"/>
                </a:solidFill>
                <a:effectLst/>
                <a:latin typeface="Handjet Medium Square Single"/>
                <a:ea typeface="+mn-lt"/>
                <a:cs typeface="+mn-lt"/>
              </a:rPr>
              <a:t>What It Is, How It Works, and How to </a:t>
            </a:r>
            <a:r>
              <a:rPr lang="en-US" sz="2400" spc="300">
                <a:solidFill>
                  <a:schemeClr val="bg1"/>
                </a:solidFill>
                <a:latin typeface="Handjet Medium Square Single"/>
                <a:ea typeface="+mn-lt"/>
                <a:cs typeface="+mn-lt"/>
              </a:rPr>
              <a:t>Succeed in CTF Challenges</a:t>
            </a:r>
            <a:br>
              <a:rPr lang="en-US" sz="2400" spc="300">
                <a:solidFill>
                  <a:schemeClr val="bg1"/>
                </a:solidFill>
                <a:latin typeface="Handjet Medium Square Single"/>
                <a:ea typeface="+mn-lt"/>
                <a:cs typeface="+mn-lt"/>
              </a:rPr>
            </a:br>
            <a:endParaRPr lang="en-US" sz="2400" spc="300">
              <a:solidFill>
                <a:srgbClr val="FFFFFF"/>
              </a:solidFill>
              <a:latin typeface="Handjet Medium Square Single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100">
                <a:solidFill>
                  <a:schemeClr val="bg1"/>
                </a:solidFill>
                <a:ea typeface="+mn-lt"/>
                <a:cs typeface="+mn-lt"/>
              </a:rPr>
              <a:t>Winter 2025/26</a:t>
            </a:r>
            <a:endParaRPr lang="en-US" spc="1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4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346269"/>
            <a:ext cx="10615482" cy="46628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What is Binary Exploitation?</a:t>
            </a:r>
            <a:endParaRPr lang="he-IL" sz="28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Binary Exploitation is </a:t>
            </a:r>
            <a:r>
              <a:rPr lang="en-US" sz="2400">
                <a:solidFill>
                  <a:schemeClr val="bg1"/>
                </a:solidFill>
                <a:effectLst/>
                <a:latin typeface="Miriam Libre"/>
                <a:ea typeface="+mn-lt"/>
                <a:cs typeface="Miriam Libre"/>
              </a:rPr>
              <a:t>the 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art </a:t>
            </a:r>
            <a:r>
              <a:rPr lang="en-US" sz="2400">
                <a:solidFill>
                  <a:schemeClr val="bg1"/>
                </a:solidFill>
                <a:effectLst/>
                <a:latin typeface="Miriam Libre"/>
                <a:ea typeface="+mn-lt"/>
                <a:cs typeface="Miriam Libre"/>
              </a:rPr>
              <a:t>of 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finding and exploiting vulnerabilities in compiled programs to control their behavior</a:t>
            </a:r>
            <a:endParaRPr lang="he-IL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Why Learn Binary Exploitation?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 key skill in CTF competitions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Helps understand security vulnerabilities at a deeper level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Critical for cybersecurity professionals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Introduction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198450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303137"/>
            <a:ext cx="11305595" cy="59554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Programs and Binaries</a:t>
            </a:r>
            <a:endParaRPr lang="he-IL" sz="28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Programs are compiled into binaries that computers execute</a:t>
            </a:r>
            <a:endParaRPr lang="en-US" sz="2400">
              <a:solidFill>
                <a:schemeClr val="bg1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Binaries operate at a low level, closer to hardware</a:t>
            </a:r>
            <a:endParaRPr lang="he-IL" sz="2400">
              <a:solidFill>
                <a:schemeClr val="bg1"/>
              </a:solidFill>
              <a:ea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Memory Layout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Stack: Stores local variables and return addresses (function call info)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Heap: Dynamically allocated memory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Code Section: Executable instructions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Data Section: Global variables and constants (static)</a:t>
            </a:r>
            <a:endParaRPr lang="en-US" sz="2400" err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>
              <a:solidFill>
                <a:schemeClr val="bg1"/>
              </a:solidFill>
              <a:latin typeface="Miriam Libre"/>
              <a:ea typeface="Calibri" panose="020F0502020204030204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The Basics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63609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The Basics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pic>
        <p:nvPicPr>
          <p:cNvPr id="2" name="Picture 1" descr="A diagram of a computer&#10;&#10;Description automatically generated">
            <a:extLst>
              <a:ext uri="{FF2B5EF4-FFF2-40B4-BE49-F238E27FC236}">
                <a16:creationId xmlns:a16="http://schemas.microsoft.com/office/drawing/2014/main" id="{7D03E3C7-63C2-E2A7-9B2F-C2224D4FAE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92" r="-188" b="5413"/>
          <a:stretch/>
        </p:blipFill>
        <p:spPr>
          <a:xfrm>
            <a:off x="1930729" y="1186098"/>
            <a:ext cx="7655962" cy="4783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B3E72F-A701-B5E6-5520-5859A2AFCA96}"/>
              </a:ext>
            </a:extLst>
          </p:cNvPr>
          <p:cNvSpPr txBox="1"/>
          <p:nvPr/>
        </p:nvSpPr>
        <p:spPr>
          <a:xfrm>
            <a:off x="2686603" y="1282156"/>
            <a:ext cx="17832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HIgher</a:t>
            </a: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Addreses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88F26-1516-1F84-DBD6-C9A3F888AD21}"/>
              </a:ext>
            </a:extLst>
          </p:cNvPr>
          <p:cNvSpPr txBox="1"/>
          <p:nvPr/>
        </p:nvSpPr>
        <p:spPr>
          <a:xfrm>
            <a:off x="7287357" y="5307816"/>
            <a:ext cx="17832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Lower </a:t>
            </a:r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Addreses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321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Common Vulnerabilities</a:t>
            </a:r>
            <a:endParaRPr lang="en-US">
              <a:latin typeface="Miriam Libre"/>
              <a:cs typeface="Miriam Lib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88760"/>
            <a:ext cx="11319972" cy="66018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Buffer Overflow</a:t>
            </a:r>
            <a:endParaRPr lang="he-IL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Writing data beyond the intended memory buffer’s limit</a:t>
            </a:r>
            <a:endParaRPr lang="he-IL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Format String Exploits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Exploiting improperly handled format strings (like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printf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Mainly relevant where the function does not check the buffer length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Use-After-Free (UAF)</a:t>
            </a:r>
            <a:endParaRPr lang="en-US" sz="2400">
              <a:solidFill>
                <a:schemeClr val="bg1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Accessing memory after it’s freed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 panose="020F0502020204030204"/>
                <a:cs typeface="Miriam Libre"/>
              </a:rPr>
              <a:t>The data isn't being deleted, only the pointer to this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>
              <a:solidFill>
                <a:schemeClr val="bg1"/>
              </a:solidFill>
              <a:latin typeface="Miriam Libre"/>
              <a:ea typeface="Calibri" panose="020F0502020204030204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>
              <a:solidFill>
                <a:schemeClr val="bg1"/>
              </a:solidFill>
              <a:effectLst/>
              <a:latin typeface="Miriam Libre" pitchFamily="2" charset="-79"/>
              <a:ea typeface="Calibri" panose="020F0502020204030204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0566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5" y="488435"/>
            <a:ext cx="626181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spc="12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Buffer Overflow Basics</a:t>
            </a:r>
            <a:endParaRPr lang="en-US">
              <a:latin typeface="Miriam Libre"/>
              <a:cs typeface="Miriam Lib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298556" y="1947867"/>
            <a:ext cx="11434991" cy="30200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What Is It?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Overwriting data in memory by exceeding the bounds of </a:t>
            </a:r>
            <a:r>
              <a:rPr lang="en-US" sz="2400">
                <a:solidFill>
                  <a:srgbClr val="24272B"/>
                </a:solidFill>
                <a:effectLst/>
                <a:latin typeface="Miriam Libre"/>
                <a:ea typeface="+mn-lt"/>
                <a:cs typeface="+mn-lt"/>
              </a:rPr>
              <a:t>a 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buffer</a:t>
            </a:r>
          </a:p>
          <a:p>
            <a:pPr lvl="1"/>
            <a:endParaRPr lang="en-US" sz="2400">
              <a:solidFill>
                <a:srgbClr val="24272B"/>
              </a:solidFill>
              <a:latin typeface="Miriam Libre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How </a:t>
            </a:r>
            <a:r>
              <a:rPr lang="en-US" sz="2400" b="1">
                <a:solidFill>
                  <a:srgbClr val="24272B"/>
                </a:solidFill>
                <a:effectLst/>
                <a:latin typeface="Miriam Libre"/>
                <a:ea typeface="+mn-lt"/>
                <a:cs typeface="+mn-lt"/>
              </a:rPr>
              <a:t>It </a:t>
            </a:r>
            <a:r>
              <a:rPr lang="en-US" sz="2400" b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Works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Write input larger than expected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Overwrite return address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Redirect execution flow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>
              <a:lnSpc>
                <a:spcPts val="2560"/>
              </a:lnSpc>
            </a:pPr>
            <a:endParaRPr lang="en-US" sz="2400" b="1">
              <a:solidFill>
                <a:srgbClr val="24272B"/>
              </a:solidFill>
              <a:latin typeface="Miriam Libre" pitchFamily="2" charset="-79"/>
              <a:ea typeface="Calibri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53304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US" sz="1200" spc="30">
                <a:solidFill>
                  <a:srgbClr val="24272B"/>
                </a:solidFill>
                <a:effectLst/>
                <a:latin typeface="Handjet Square Single"/>
                <a:cs typeface="Handjet Square Single" pitchFamily="2" charset="0"/>
              </a:rPr>
              <a:t>       Understanding </a:t>
            </a:r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Binary Exploitation</a:t>
            </a:r>
            <a:endParaRPr lang="en-US" sz="1200" spc="30">
              <a:solidFill>
                <a:srgbClr val="24272B"/>
              </a:solidFill>
              <a:effectLst/>
              <a:latin typeface="Handjet Square Single"/>
              <a:cs typeface="Handjet Square Single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3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483385" y="1211346"/>
            <a:ext cx="707973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The gets() function reads user input until a</a:t>
            </a:r>
            <a:br>
              <a:rPr lang="en-US" sz="2400">
                <a:latin typeface="Miriam Libre"/>
                <a:cs typeface="Arial"/>
              </a:rPr>
            </a:b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newline or EOF is encountered.</a:t>
            </a: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Without checking if the input fits into the</a:t>
            </a:r>
            <a:br>
              <a:rPr lang="en-US" sz="2400">
                <a:latin typeface="Miriam Libre"/>
                <a:cs typeface="Arial"/>
              </a:rPr>
            </a:b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allocated memory buffer.</a:t>
            </a: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If the user provides more than 64 bytes, the extra data overflows into adjacent memory areas, overwriting them</a:t>
            </a:r>
            <a:r>
              <a:rPr lang="en-US" sz="2400">
                <a:solidFill>
                  <a:srgbClr val="24272B"/>
                </a:solidFill>
                <a:effectLst/>
                <a:latin typeface="Miriam Libre"/>
                <a:cs typeface="Arial"/>
              </a:rPr>
              <a:t>.</a:t>
            </a: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54140" y="2594849"/>
            <a:ext cx="358495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24272B"/>
                </a:solidFill>
                <a:latin typeface="Miriam Libre"/>
                <a:cs typeface="Miriam Libre"/>
              </a:rPr>
              <a:t>void vuln() {
    char buffer[64];
    gets(buffer);
}</a:t>
            </a:r>
            <a:endParaRPr lang="en-US" sz="2400">
              <a:latin typeface="Miriam Libre"/>
              <a:ea typeface="Calibri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368500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483385" y="1211346"/>
            <a:ext cx="7079733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400" b="1">
                <a:solidFill>
                  <a:srgbClr val="000000"/>
                </a:solidFill>
                <a:latin typeface="Miriam Libre"/>
                <a:cs typeface="Arial"/>
              </a:rPr>
              <a:t>How Can I Use It?</a:t>
            </a:r>
            <a:endParaRPr lang="en-US">
              <a:latin typeface="Miriam Libre"/>
              <a:cs typeface="Miriam Libre"/>
            </a:endParaRPr>
          </a:p>
          <a:p>
            <a:pPr marL="342900" indent="-342900">
              <a:buFont typeface="Arial,Sans-Serif"/>
              <a:buChar char="•"/>
            </a:pPr>
            <a:endParaRPr lang="en-US" sz="2400" b="1">
              <a:solidFill>
                <a:srgbClr val="000000"/>
              </a:solidFill>
              <a:latin typeface="Miriam Libre"/>
              <a:cs typeface="Arial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cs typeface="Arial"/>
              </a:rPr>
              <a:t>Redirect Execution Flow </a:t>
            </a:r>
            <a:endParaRPr lang="he-IL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+mn-lt"/>
              </a:rPr>
              <a:t>Overwrite the return address - malicious code (shellcode) or desired function</a:t>
            </a:r>
            <a:br>
              <a:rPr lang="en-US" sz="2400">
                <a:solidFill>
                  <a:srgbClr val="000000"/>
                </a:solidFill>
                <a:latin typeface="Miriam Libre"/>
                <a:ea typeface="+mn-lt"/>
                <a:cs typeface="+mn-lt"/>
              </a:rPr>
            </a:br>
            <a:endParaRPr lang="he-IL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Inject</a:t>
            </a:r>
            <a:r>
              <a:rPr lang="en-US" sz="2400">
                <a:solidFill>
                  <a:srgbClr val="000000"/>
                </a:solidFill>
                <a:latin typeface="Miriam Libre"/>
                <a:cs typeface="Arial"/>
              </a:rPr>
              <a:t> Shellcode</a:t>
            </a:r>
            <a:endParaRPr lang="he-IL" sz="2400">
              <a:solidFill>
                <a:srgbClr val="000000"/>
              </a:solidFill>
              <a:latin typeface="Miriam Libre"/>
              <a:cs typeface="Miriam Libre"/>
            </a:endParaRPr>
          </a:p>
          <a:p>
            <a:pPr marL="742950" lvl="1" indent="-285750">
              <a:buFont typeface="Arial,Sans-Serif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Include executable shellcode (machine instructions) in your input.</a:t>
            </a: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pPr marL="742950" lvl="1" indent="-285750">
              <a:buFont typeface="Courier New,monospace"/>
              <a:buChar char="o"/>
            </a:pP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cs typeface="Arial"/>
              </a:rPr>
              <a:t>Exploit Known Functions - Return-Oriented Programming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Calibri"/>
                <a:cs typeface="Calibri"/>
              </a:rPr>
              <a:t>Redirect</a:t>
            </a:r>
            <a:r>
              <a:rPr lang="en-US" sz="2400">
                <a:latin typeface="Miriam Libre"/>
                <a:ea typeface="+mn-lt"/>
                <a:cs typeface="+mn-lt"/>
              </a:rPr>
              <a:t> execution to </a:t>
            </a:r>
            <a:r>
              <a:rPr lang="en-US" sz="2400" b="1">
                <a:latin typeface="Miriam Libre"/>
                <a:ea typeface="+mn-lt"/>
                <a:cs typeface="+mn-lt"/>
              </a:rPr>
              <a:t>existing instructions</a:t>
            </a:r>
            <a:r>
              <a:rPr lang="en-US" sz="2400">
                <a:latin typeface="Miriam Libre"/>
                <a:ea typeface="+mn-lt"/>
                <a:cs typeface="+mn-lt"/>
              </a:rPr>
              <a:t> in the program</a:t>
            </a:r>
            <a:endParaRPr lang="en-US" sz="2400">
              <a:latin typeface="Miriam Libre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54140" y="2594849"/>
            <a:ext cx="358495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24272B"/>
                </a:solidFill>
                <a:latin typeface="Miriam Libre"/>
                <a:cs typeface="Miriam Libre"/>
              </a:rPr>
              <a:t>void vuln() {
    char buffer[64];
    gets(buffer);
}</a:t>
            </a:r>
            <a:endParaRPr lang="en-US" sz="2400">
              <a:latin typeface="Miriam Libre"/>
              <a:ea typeface="Calibri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418128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5" y="488435"/>
            <a:ext cx="792958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spc="12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Exploiting Buffer Overflows</a:t>
            </a:r>
            <a:endParaRPr lang="en-US">
              <a:latin typeface="Miriam Libre"/>
              <a:cs typeface="Miriam Lib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298556" y="1933490"/>
            <a:ext cx="11434991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Step 1: Analyze the binary to identify input size limits.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Miriam Libre"/>
              </a:rPr>
              <a:t>Step 2: Craft payload to overwrite the return address.</a:t>
            </a:r>
            <a:endParaRPr lang="en-US" sz="2400">
              <a:ea typeface="Calibri"/>
              <a:cs typeface="Miriam Libre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ea typeface="Calibri"/>
                <a:cs typeface="Miriam Libre"/>
              </a:rPr>
              <a:t>Step 3: Inject shellcode or redirect to desired location.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solidFill>
                <a:srgbClr val="24272B"/>
              </a:solidFill>
              <a:latin typeface="Miriam Libre"/>
              <a:ea typeface="+mn-lt"/>
              <a:cs typeface="Miriam Lib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53304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US" sz="1200" spc="30">
                <a:solidFill>
                  <a:srgbClr val="24272B"/>
                </a:solidFill>
                <a:effectLst/>
                <a:latin typeface="Handjet Square Single"/>
                <a:cs typeface="Handjet Square Single" pitchFamily="2" charset="0"/>
              </a:rPr>
              <a:t>       Understanding </a:t>
            </a:r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Binary Exploitation</a:t>
            </a:r>
            <a:endParaRPr lang="en-US" sz="1200" spc="30">
              <a:solidFill>
                <a:srgbClr val="24272B"/>
              </a:solidFill>
              <a:effectLst/>
              <a:latin typeface="Handjet Square Single"/>
              <a:cs typeface="Handjet Square Single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483385" y="1211346"/>
            <a:ext cx="70797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rgbClr val="000000"/>
                </a:solidFill>
                <a:latin typeface="Miriam Libre"/>
                <a:cs typeface="Arial"/>
              </a:rPr>
              <a:t>Everything is in </a:t>
            </a:r>
            <a:r>
              <a:rPr lang="en-US" sz="2000" err="1">
                <a:solidFill>
                  <a:srgbClr val="000000"/>
                </a:solidFill>
                <a:latin typeface="Miriam Libre"/>
                <a:cs typeface="Arial"/>
              </a:rPr>
              <a:t>hexa</a:t>
            </a:r>
            <a:r>
              <a:rPr lang="en-US" sz="2000">
                <a:solidFill>
                  <a:srgbClr val="000000"/>
                </a:solidFill>
                <a:latin typeface="Miriam Libre"/>
                <a:cs typeface="Arial"/>
              </a:rPr>
              <a:t>, little-endian</a:t>
            </a:r>
            <a:endParaRPr lang="en-US" sz="2000">
              <a:latin typeface="Miriam Libre"/>
              <a:cs typeface="Miriam Lib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pic>
        <p:nvPicPr>
          <p:cNvPr id="10" name="Picture 9" descr="undefined">
            <a:extLst>
              <a:ext uri="{FF2B5EF4-FFF2-40B4-BE49-F238E27FC236}">
                <a16:creationId xmlns:a16="http://schemas.microsoft.com/office/drawing/2014/main" id="{7D6D77DB-052B-6843-22F0-C9697530C4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" t="114" r="49086" b="-114"/>
          <a:stretch/>
        </p:blipFill>
        <p:spPr>
          <a:xfrm>
            <a:off x="5025449" y="1908184"/>
            <a:ext cx="5093957" cy="49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9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532004" y="2594849"/>
            <a:ext cx="219010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pop r1: bad007</a:t>
            </a:r>
          </a:p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pop r2: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deadbeef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36051E-FECD-38A8-E52F-FFBC863B2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16952"/>
              </p:ext>
            </p:extLst>
          </p:nvPr>
        </p:nvGraphicFramePr>
        <p:xfrm>
          <a:off x="3936053" y="2595088"/>
          <a:ext cx="8168640" cy="222503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3117029639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735286437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995741289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3994706826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3569534154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88737389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1336660183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492258138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23611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02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chemeClr val="tx1"/>
                          </a:solidFill>
                        </a:rPr>
                        <a:t>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chemeClr val="tx1"/>
                          </a:solidFill>
                        </a:rPr>
                        <a:t>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07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9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7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3172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2771FF-2FC6-6898-1381-433B57372C3F}"/>
              </a:ext>
            </a:extLst>
          </p:cNvPr>
          <p:cNvSpPr txBox="1"/>
          <p:nvPr/>
        </p:nvSpPr>
        <p:spPr>
          <a:xfrm>
            <a:off x="10022237" y="2221423"/>
            <a:ext cx="21697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High Address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16C18-7B9F-1E21-9CF1-ADEC05794A8B}"/>
              </a:ext>
            </a:extLst>
          </p:cNvPr>
          <p:cNvSpPr txBox="1"/>
          <p:nvPr/>
        </p:nvSpPr>
        <p:spPr>
          <a:xfrm>
            <a:off x="3939151" y="4817388"/>
            <a:ext cx="13690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Low Address</a:t>
            </a:r>
            <a:endParaRPr lang="en-US" err="1"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034601-FB2F-A472-0DEE-2965EE6E74F0}"/>
              </a:ext>
            </a:extLst>
          </p:cNvPr>
          <p:cNvCxnSpPr/>
          <p:nvPr/>
        </p:nvCxnSpPr>
        <p:spPr>
          <a:xfrm>
            <a:off x="2815527" y="3564611"/>
            <a:ext cx="1123625" cy="12915"/>
          </a:xfrm>
          <a:prstGeom prst="straightConnector1">
            <a:avLst/>
          </a:prstGeom>
          <a:ln w="57150">
            <a:solidFill>
              <a:srgbClr val="E1FD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73BB9D8-B8BF-3F15-DDC7-147D9752336B}"/>
              </a:ext>
            </a:extLst>
          </p:cNvPr>
          <p:cNvSpPr txBox="1"/>
          <p:nvPr/>
        </p:nvSpPr>
        <p:spPr>
          <a:xfrm>
            <a:off x="3035085" y="3035085"/>
            <a:ext cx="6845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err="1">
                <a:solidFill>
                  <a:srgbClr val="E2FE21"/>
                </a:solidFill>
                <a:latin typeface="Miriam Libre"/>
                <a:ea typeface="Calibri"/>
                <a:cs typeface="Calibri"/>
              </a:rPr>
              <a:t>rsp</a:t>
            </a:r>
            <a:endParaRPr lang="en-US" sz="2400">
              <a:solidFill>
                <a:srgbClr val="E2FE21"/>
              </a:solidFill>
              <a:latin typeface="Miriam Libre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87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5" y="488435"/>
            <a:ext cx="792958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spc="120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Format String Vulnerabilities</a:t>
            </a:r>
            <a:endParaRPr lang="en-US">
              <a:latin typeface="Miriam Libre"/>
              <a:cs typeface="Miriam Lib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298556" y="1933490"/>
            <a:ext cx="114349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What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 Is It?</a:t>
            </a:r>
            <a:endParaRPr lang="en-US" sz="2400">
              <a:solidFill>
                <a:srgbClr val="000000"/>
              </a:solidFill>
              <a:latin typeface="Miriam Libre"/>
              <a:ea typeface="+mn-lt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Exploiting 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unsanitized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 user 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input 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in format functions like 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Calibri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.</a:t>
            </a:r>
            <a:endParaRPr lang="en-US" sz="2400">
              <a:latin typeface="Miriam Libre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rgbClr val="24272B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Miriam Libre"/>
              </a:rPr>
              <a:t>How It Works: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Miriam Libre"/>
              </a:rPr>
              <a:t>Print memory content using %x specifiers.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Miriam Libre"/>
              </a:rPr>
              <a:t>Write to memory using %n.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rgbClr val="24272B"/>
              </a:solidFill>
              <a:latin typeface="Miriam Libre" pitchFamily="2" charset="-79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53304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US" sz="1200" spc="30">
                <a:solidFill>
                  <a:srgbClr val="24272B"/>
                </a:solidFill>
                <a:effectLst/>
                <a:latin typeface="Handjet Square Single"/>
                <a:cs typeface="Handjet Square Single" pitchFamily="2" charset="0"/>
              </a:rPr>
              <a:t>       Understanding </a:t>
            </a:r>
            <a:r>
              <a:rPr lang="en-US" sz="1200" spc="30">
                <a:solidFill>
                  <a:srgbClr val="24272B"/>
                </a:solidFill>
                <a:latin typeface="Handjet Square Single"/>
                <a:cs typeface="Handjet Square Single" pitchFamily="2" charset="0"/>
              </a:rPr>
              <a:t>Binary Exploitation</a:t>
            </a:r>
            <a:endParaRPr lang="en-US" sz="1200" spc="30">
              <a:solidFill>
                <a:srgbClr val="24272B"/>
              </a:solidFill>
              <a:effectLst/>
              <a:latin typeface="Handjet Square Single"/>
              <a:cs typeface="Handjet Square Single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52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algn="ctr" defTabSz="914400" rtl="0" eaLnBrk="1" latinLnBrk="0" hangingPunct="1"/>
            <a:r>
              <a:rPr lang="en-IL" sz="2400" b="1">
                <a:latin typeface="Miriam Libre"/>
                <a:ea typeface="Calibri"/>
                <a:cs typeface="Calibri"/>
              </a:rPr>
              <a:t>VS</a:t>
            </a:r>
            <a:endParaRPr lang="en-IL" b="1">
              <a:latin typeface="Miriam Libre"/>
              <a:cs typeface="Miriam Libre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540894" y="1254477"/>
            <a:ext cx="7036601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Unsafe Input Handling</a:t>
            </a:r>
            <a:endParaRPr lang="en-US" sz="2400">
              <a:solidFill>
                <a:srgbClr val="24272B"/>
              </a:solidFill>
              <a:latin typeface="Miriam Libre"/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 err="1">
                <a:solidFill>
                  <a:srgbClr val="24272B"/>
                </a:solidFill>
                <a:latin typeface="Miriam Libre"/>
                <a:cs typeface="Arial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 expects a controlled format string (e.g., </a:t>
            </a: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"%s"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). </a:t>
            </a:r>
            <a:endParaRPr lang="en-US" sz="2400">
              <a:solidFill>
                <a:srgbClr val="000000"/>
              </a:solidFill>
              <a:latin typeface="Miriam Libre"/>
              <a:ea typeface="+mn-lt"/>
              <a:cs typeface="+mn-lt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Here, the input </a:t>
            </a:r>
            <a:r>
              <a:rPr lang="en-US" sz="2400" err="1">
                <a:solidFill>
                  <a:srgbClr val="24272B"/>
                </a:solidFill>
                <a:latin typeface="Miriam Libre"/>
                <a:cs typeface="Arial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 is fully controlled by the attacker.</a:t>
            </a:r>
            <a:endParaRPr lang="en-US" sz="2400">
              <a:solidFill>
                <a:srgbClr val="000000"/>
              </a:solidFill>
              <a:latin typeface="Miriam Libre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solidFill>
                <a:srgbClr val="24272B"/>
              </a:solidFill>
              <a:latin typeface="Miriam Libre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No Bounds Checking</a:t>
            </a:r>
            <a:endParaRPr lang="en-US" sz="2400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The function reads format specifiers from </a:t>
            </a:r>
            <a:r>
              <a:rPr lang="en-US" sz="2400" err="1">
                <a:solidFill>
                  <a:srgbClr val="24272B"/>
                </a:solidFill>
                <a:latin typeface="Miriam Libre"/>
                <a:cs typeface="Arial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cs typeface="Arial"/>
              </a:rPr>
              <a:t>.</a:t>
            </a:r>
            <a:endParaRPr lang="en-US" sz="2400">
              <a:solidFill>
                <a:srgbClr val="000000"/>
              </a:solidFill>
              <a:latin typeface="Miriam Libre"/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Allowing memory access or writes without validation.</a:t>
            </a:r>
            <a:endParaRPr lang="en-US" sz="2400">
              <a:solidFill>
                <a:srgbClr val="24272B"/>
              </a:solidFill>
              <a:latin typeface="Miriam Libre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54140" y="2594849"/>
            <a:ext cx="358495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2007-FD48-D89B-0877-4AF4A923BD06}"/>
              </a:ext>
            </a:extLst>
          </p:cNvPr>
          <p:cNvSpPr txBox="1"/>
          <p:nvPr/>
        </p:nvSpPr>
        <p:spPr>
          <a:xfrm>
            <a:off x="68517" y="3788169"/>
            <a:ext cx="358495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("%s", 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74586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algn="ctr" defTabSz="914400" rtl="0" eaLnBrk="1" latinLnBrk="0" hangingPunct="1"/>
            <a:r>
              <a:rPr lang="en-IL" sz="2400" b="1">
                <a:latin typeface="Miriam Libre"/>
                <a:ea typeface="Calibri"/>
                <a:cs typeface="Calibri"/>
              </a:rPr>
              <a:t>VS</a:t>
            </a:r>
            <a:endParaRPr lang="en-IL" b="1">
              <a:latin typeface="Miriam Libre"/>
              <a:cs typeface="Miriam Libre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540894" y="1254477"/>
            <a:ext cx="7036601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Miriam Libre"/>
                <a:cs typeface="Arial"/>
              </a:rPr>
              <a:t>How Can I Use It</a:t>
            </a:r>
            <a:r>
              <a:rPr lang="en-US" sz="2400" b="1">
                <a:solidFill>
                  <a:srgbClr val="000000"/>
                </a:solidFill>
                <a:effectLst/>
                <a:latin typeface="Miriam Libre"/>
                <a:cs typeface="Arial"/>
              </a:rPr>
              <a:t>?</a:t>
            </a: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Stack Data Leakage</a:t>
            </a: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Calibri"/>
              </a:rPr>
              <a:t>Reveals</a:t>
            </a: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+mn-lt"/>
              </a:rPr>
              <a:t> sensitive memory like return addresses</a:t>
            </a:r>
            <a:endParaRPr lang="en-US" sz="2400" b="1">
              <a:solidFill>
                <a:srgbClr val="000000"/>
              </a:solidFill>
              <a:latin typeface="Miriam Libre"/>
              <a:ea typeface="Calibri" panose="020F0502020204030204"/>
              <a:cs typeface="Arial"/>
            </a:endParaRPr>
          </a:p>
          <a:p>
            <a:pPr marL="742950" lvl="1" indent="-285750">
              <a:buFont typeface="Courier New,monospace"/>
              <a:buChar char="o"/>
            </a:pPr>
            <a:endParaRPr lang="en-US" sz="2400">
              <a:solidFill>
                <a:srgbClr val="000000"/>
              </a:solidFill>
              <a:latin typeface="Miriam Libre"/>
              <a:ea typeface="+mn-lt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Arbitrary Memory Write</a:t>
            </a:r>
            <a:endParaRPr lang="he-IL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overwrites memory</a:t>
            </a:r>
            <a:endParaRPr lang="he-IL" sz="2400">
              <a:solidFill>
                <a:srgbClr val="000000"/>
              </a:solidFill>
              <a:latin typeface="Miriam Libre"/>
              <a:cs typeface="Miriam Libre"/>
            </a:endParaRPr>
          </a:p>
          <a:p>
            <a:pPr marL="742950" lvl="1" indent="-285750">
              <a:buFont typeface="Courier New,monospace"/>
              <a:buChar char="o"/>
            </a:pPr>
            <a:endParaRPr lang="en-US" sz="2400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Arial"/>
              </a:rPr>
              <a:t>Redirect Execution</a:t>
            </a:r>
            <a:endParaRPr lang="he-IL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+mn-lt"/>
              </a:rPr>
              <a:t>Write to the return address or function pointers</a:t>
            </a:r>
            <a:endParaRPr lang="he-IL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>
                <a:solidFill>
                  <a:srgbClr val="000000"/>
                </a:solidFill>
                <a:latin typeface="Miriam Libre"/>
                <a:ea typeface="+mn-lt"/>
                <a:cs typeface="+mn-lt"/>
              </a:rPr>
              <a:t>Control the program flow</a:t>
            </a:r>
            <a:endParaRPr lang="he-IL" sz="2400">
              <a:latin typeface="Miriam Libre"/>
              <a:ea typeface="+mn-lt"/>
              <a:cs typeface="Miriam Lib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54140" y="2594849"/>
            <a:ext cx="358495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2007-FD48-D89B-0877-4AF4A923BD06}"/>
              </a:ext>
            </a:extLst>
          </p:cNvPr>
          <p:cNvSpPr txBox="1"/>
          <p:nvPr/>
        </p:nvSpPr>
        <p:spPr>
          <a:xfrm>
            <a:off x="68517" y="3788169"/>
            <a:ext cx="358495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printf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("%s", </a:t>
            </a:r>
            <a:r>
              <a:rPr lang="en-US" sz="2400" err="1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user_input</a:t>
            </a:r>
            <a:r>
              <a:rPr lang="en-US" sz="2400">
                <a:solidFill>
                  <a:srgbClr val="24272B"/>
                </a:solidFill>
                <a:latin typeface="Miriam Libre"/>
                <a:ea typeface="+mn-lt"/>
                <a:cs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3084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algn="ctr" defTabSz="914400" rtl="0" eaLnBrk="1" latinLnBrk="0" hangingPunct="1"/>
            <a:endParaRPr lang="en-US" sz="2400" b="1">
              <a:latin typeface="Miriam Libre"/>
              <a:ea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540894" y="1254477"/>
            <a:ext cx="703660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Miriam Libre"/>
                <a:cs typeface="Arial"/>
              </a:rPr>
              <a:t>How Can I Use It</a:t>
            </a:r>
            <a:r>
              <a:rPr lang="en-US" sz="2400" b="1">
                <a:solidFill>
                  <a:srgbClr val="000000"/>
                </a:solidFill>
                <a:effectLst/>
                <a:latin typeface="Miriam Libre"/>
                <a:cs typeface="Arial"/>
              </a:rPr>
              <a:t>?</a:t>
            </a: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latin typeface="Miriam Libre"/>
              <a:ea typeface="+mn-lt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4539875" y="1919113"/>
            <a:ext cx="7337444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#include &lt;stdio.h&gt;
int main() {
   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printf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("What's your name? ");
    char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inputBuf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[256];
   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scanf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("%s",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inputBuf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);
   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printf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("Your name is:\n");
    long int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sensitiveItem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 = 0x1234567890abcdef;
    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printf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(</a:t>
            </a:r>
            <a:r>
              <a:rPr lang="en-US" sz="2400" err="1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inputBuf</a:t>
            </a:r>
            <a:r>
              <a:rPr lang="en-US" sz="2400">
                <a:solidFill>
                  <a:schemeClr val="tx1"/>
                </a:solidFill>
                <a:latin typeface="Miriam Libre"/>
                <a:ea typeface="Roboto Mono"/>
                <a:cs typeface="+mn-lt"/>
              </a:rPr>
              <a:t>);
    return 0;
}</a:t>
            </a:r>
            <a:endParaRPr lang="en-US">
              <a:solidFill>
                <a:schemeClr val="tx1"/>
              </a:solidFill>
              <a:latin typeface="Miriam Libre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159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algn="ctr" defTabSz="914400" rtl="0" eaLnBrk="1" latinLnBrk="0" hangingPunct="1"/>
            <a:endParaRPr lang="en-US" sz="2400" b="1">
              <a:latin typeface="Miriam Libre"/>
              <a:ea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540894" y="1254477"/>
            <a:ext cx="703660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Miriam Libre"/>
                <a:cs typeface="Arial"/>
              </a:rPr>
              <a:t>How Can I Use It</a:t>
            </a:r>
            <a:r>
              <a:rPr lang="en-US" sz="2400" b="1">
                <a:solidFill>
                  <a:srgbClr val="000000"/>
                </a:solidFill>
                <a:effectLst/>
                <a:latin typeface="Miriam Libre"/>
                <a:cs typeface="Arial"/>
              </a:rPr>
              <a:t>?</a:t>
            </a: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solidFill>
                <a:srgbClr val="000000"/>
              </a:solidFill>
              <a:latin typeface="Miriam Libre"/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latin typeface="Miriam Libre"/>
              <a:ea typeface="+mn-lt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200" spc="30">
                <a:solidFill>
                  <a:srgbClr val="E2FE21"/>
                </a:solidFill>
                <a:latin typeface="Handjet Square Single"/>
                <a:cs typeface="Handjet Square Single" pitchFamily="2" charset="0"/>
              </a:rPr>
              <a:t>04</a:t>
            </a:r>
            <a:r>
              <a:rPr lang="en-GB" sz="1200" spc="30">
                <a:solidFill>
                  <a:srgbClr val="E2FE21"/>
                </a:solidFill>
                <a:effectLst/>
                <a:latin typeface="Handjet Square Single"/>
                <a:cs typeface="Handjet Square Single" pitchFamily="2" charset="0"/>
              </a:rPr>
              <a:t>       </a:t>
            </a:r>
            <a:r>
              <a:rPr lang="en-GB" sz="1200" spc="30">
                <a:solidFill>
                  <a:schemeClr val="bg1"/>
                </a:solidFill>
                <a:latin typeface="Handjet Square Single"/>
              </a:rPr>
              <a:t>Understanding Binary Exploitation</a:t>
            </a:r>
            <a:endParaRPr lang="en-GB" sz="1200" spc="30">
              <a:solidFill>
                <a:schemeClr val="bg1"/>
              </a:solidFill>
              <a:latin typeface="Handjet Square Sing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228D-2D96-9D26-70FB-68FEEAD7EA98}"/>
              </a:ext>
            </a:extLst>
          </p:cNvPr>
          <p:cNvSpPr txBox="1"/>
          <p:nvPr/>
        </p:nvSpPr>
        <p:spPr>
          <a:xfrm>
            <a:off x="4165333" y="1815791"/>
            <a:ext cx="771198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Miriam Libre"/>
                <a:ea typeface="Roboto Mono"/>
                <a:cs typeface="Miriam Libre"/>
              </a:rPr>
              <a:t>What is your name? %</a:t>
            </a:r>
            <a:r>
              <a:rPr lang="en-US" sz="2400" err="1">
                <a:solidFill>
                  <a:srgbClr val="000000"/>
                </a:solidFill>
                <a:latin typeface="Miriam Libre"/>
                <a:ea typeface="Roboto Mono"/>
                <a:cs typeface="Miriam Libre"/>
              </a:rPr>
              <a:t>lx,%lx,%lx,%lx,%lx,%lx,%lx,%lx,%lx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2400">
                <a:solidFill>
                  <a:srgbClr val="000000"/>
                </a:solidFill>
                <a:latin typeface="Miriam Libre"/>
                <a:ea typeface="Roboto Mono"/>
                <a:cs typeface="Miriam Libre"/>
              </a:rPr>
              <a:t>Your name is: 44a2a0,0,7f7e6a5bbb00,c0,7f7e6a697aa0,2c786c252c786c25,2c786c252c786c25,2c786c252c786c25,2c786c252c786c25,2c786c252c786c25</a:t>
            </a:r>
            <a:endParaRPr lang="en-US" sz="2400">
              <a:latin typeface="Miriam Libre"/>
              <a:ea typeface="Roboto Mono"/>
              <a:cs typeface="Miriam Lib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D8007-4E56-8AEE-5DE7-2531A5628826}"/>
              </a:ext>
            </a:extLst>
          </p:cNvPr>
          <p:cNvSpPr txBox="1"/>
          <p:nvPr/>
        </p:nvSpPr>
        <p:spPr>
          <a:xfrm>
            <a:off x="4169044" y="4259451"/>
            <a:ext cx="7496012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latin typeface="Miriam Libre"/>
                <a:cs typeface="Miriam Libre"/>
              </a:rPr>
              <a:t>Normally %lx would take the value of the next argument and represent it at as a hex string</a:t>
            </a:r>
            <a:endParaRPr lang="en-US" sz="2000">
              <a:latin typeface="Miriam Libre"/>
              <a:ea typeface="Calibri"/>
              <a:cs typeface="Miriam Libre"/>
            </a:endParaRPr>
          </a:p>
          <a:p>
            <a:pPr marL="342900" indent="-342900">
              <a:buFont typeface="Arial"/>
              <a:buChar char="•"/>
            </a:pPr>
            <a:endParaRPr lang="en-US" sz="1050">
              <a:latin typeface="Miriam Libre"/>
              <a:cs typeface="Miriam Libre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Miriam Libre"/>
                <a:cs typeface="Miriam Libre"/>
              </a:rPr>
              <a:t>Since there are no arguments, it then pops the data off the stack</a:t>
            </a:r>
            <a:endParaRPr lang="en-US" sz="2000">
              <a:latin typeface="Miriam Libre"/>
              <a:ea typeface="Calibri"/>
              <a:cs typeface="Miriam Libre"/>
            </a:endParaRPr>
          </a:p>
          <a:p>
            <a:pPr marL="342900" indent="-342900">
              <a:buFont typeface="Arial"/>
              <a:buChar char="•"/>
            </a:pPr>
            <a:endParaRPr lang="en-US" sz="1000">
              <a:latin typeface="Miriam Libre"/>
              <a:cs typeface="Miriam Libre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Miriam Libre"/>
                <a:cs typeface="Miriam Libre"/>
              </a:rPr>
              <a:t>We can use this to print out the state of the stack using a whole bunch of %lx format designators</a:t>
            </a:r>
            <a:endParaRPr lang="en-US" sz="2000">
              <a:latin typeface="Miriam Libre"/>
              <a:ea typeface="Calibri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3338767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Let's Practice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74383"/>
            <a:ext cx="11319972" cy="54014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Rolling Challenge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OverTheWire Narnia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 - 0-1 (Next levels are on ROP)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Miriam Libre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Solutions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 if you get stack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CTFlearn</a:t>
            </a:r>
            <a:endParaRPr lang="en-US" sz="2400">
              <a:solidFill>
                <a:srgbClr val="000000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Category: Binary, Difficulty: Easy</a:t>
            </a:r>
            <a:endParaRPr lang="en-US" sz="2000">
              <a:solidFill>
                <a:schemeClr val="bg1"/>
              </a:solidFill>
              <a:latin typeface="Miriam Libre"/>
              <a:ea typeface="Calibri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Arial"/>
                <a:ea typeface="+mn-lt"/>
                <a:cs typeface="Arial"/>
              </a:rPr>
              <a:t>PicoCTF</a:t>
            </a:r>
            <a:r>
              <a:rPr lang="en-US" sz="2400">
                <a:solidFill>
                  <a:schemeClr val="bg1"/>
                </a:solidFill>
                <a:latin typeface="Arial"/>
                <a:ea typeface="+mn-lt"/>
                <a:cs typeface="Arial"/>
              </a:rPr>
              <a:t> – Under Week 4</a:t>
            </a:r>
            <a:endParaRPr lang="en-US" sz="2400">
              <a:solidFill>
                <a:schemeClr val="bg1"/>
              </a:solidFill>
              <a:latin typeface="Calibri"/>
              <a:ea typeface="+mn-lt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Arial"/>
                <a:ea typeface="+mn-lt"/>
                <a:cs typeface="Arial"/>
              </a:rPr>
              <a:t>"Format String" 0-3 (basic)</a:t>
            </a:r>
            <a:endParaRPr lang="he-IL" sz="2400">
              <a:solidFill>
                <a:schemeClr val="bg1"/>
              </a:solidFill>
              <a:latin typeface="Arial"/>
              <a:ea typeface="+mn-lt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Arial"/>
                <a:ea typeface="+mn-lt"/>
                <a:cs typeface="Arial"/>
              </a:rPr>
              <a:t>"Buffer Overflow"</a:t>
            </a:r>
            <a:r>
              <a:rPr lang="en-US" sz="2400" b="1">
                <a:solidFill>
                  <a:schemeClr val="bg1"/>
                </a:solidFill>
                <a:latin typeface="Arial"/>
                <a:ea typeface="+mn-lt"/>
                <a:cs typeface="Arial"/>
              </a:rPr>
              <a:t> 0-1 </a:t>
            </a:r>
            <a:r>
              <a:rPr lang="en-US" sz="2400">
                <a:solidFill>
                  <a:schemeClr val="bg1"/>
                </a:solidFill>
                <a:latin typeface="Arial"/>
                <a:ea typeface="+mn-lt"/>
                <a:cs typeface="Arial"/>
              </a:rPr>
              <a:t>(basic), 3 (canaries), 4 (ROP)</a:t>
            </a:r>
            <a:endParaRPr lang="en-US">
              <a:solidFill>
                <a:schemeClr val="bg1"/>
              </a:solidFill>
              <a:latin typeface="Calibri"/>
              <a:ea typeface="+mn-lt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chemeClr val="bg1"/>
              </a:solidFill>
              <a:effectLst/>
              <a:latin typeface="Miriam Libre" pitchFamily="2" charset="-79"/>
              <a:ea typeface="Calibri" panose="020F0502020204030204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24013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Let's Practice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74383"/>
            <a:ext cx="11319972" cy="22621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Other 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Rolling Challenge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Pwnable.kr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Exploit education - Phoenix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effectLst/>
              <a:latin typeface="Miriam Libre" pitchFamily="2" charset="-79"/>
              <a:ea typeface="Calibri" panose="020F0502020204030204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47242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5251667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Let’s practice!</a:t>
            </a:r>
            <a:endParaRPr lang="he-IL" sz="6500" b="1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3086169"/>
            <a:ext cx="1333500" cy="1803400"/>
          </a:xfrm>
          <a:prstGeom prst="rect">
            <a:avLst/>
          </a:prstGeom>
        </p:spPr>
      </p:pic>
      <p:pic>
        <p:nvPicPr>
          <p:cNvPr id="6" name="Picture 5" descr="A qr code with black and white squares&#10;&#10;Description automatically generated">
            <a:extLst>
              <a:ext uri="{FF2B5EF4-FFF2-40B4-BE49-F238E27FC236}">
                <a16:creationId xmlns:a16="http://schemas.microsoft.com/office/drawing/2014/main" id="{7FF4F152-44E5-A148-45EC-40C0769895A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2631" y="2012630"/>
            <a:ext cx="1781175" cy="179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B2C3B4-65F0-7369-8066-9D18EF959B43}"/>
              </a:ext>
            </a:extLst>
          </p:cNvPr>
          <p:cNvSpPr txBox="1"/>
          <p:nvPr/>
        </p:nvSpPr>
        <p:spPr>
          <a:xfrm>
            <a:off x="453987" y="1130536"/>
            <a:ext cx="405846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Join our </a:t>
            </a:r>
            <a:r>
              <a:rPr lang="en-US" sz="2400" b="1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whatsapp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group!</a:t>
            </a:r>
            <a:endParaRPr lang="he-IL" sz="2400" b="1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9" name="Picture 8" descr="A qr code with a black border&#10;&#10;Description automatically generated">
            <a:extLst>
              <a:ext uri="{FF2B5EF4-FFF2-40B4-BE49-F238E27FC236}">
                <a16:creationId xmlns:a16="http://schemas.microsoft.com/office/drawing/2014/main" id="{C5CDA7F0-2A59-0001-58A8-262F7DDF460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0850" y="2042822"/>
            <a:ext cx="1771650" cy="182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3FFAA0-54A0-E16F-DD3D-3099EC47D422}"/>
              </a:ext>
            </a:extLst>
          </p:cNvPr>
          <p:cNvSpPr txBox="1"/>
          <p:nvPr/>
        </p:nvSpPr>
        <p:spPr>
          <a:xfrm>
            <a:off x="7657444" y="1188608"/>
            <a:ext cx="405846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Join our Discord channel!</a:t>
            </a:r>
            <a:endParaRPr lang="he-IL" sz="2400" b="1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465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Tools for Static Analysis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88760"/>
            <a:ext cx="11319972" cy="50321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file: Identifies the type of binary (e.g., ELF, PE).</a:t>
            </a:r>
            <a:endParaRPr lang="he-IL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When to use: Before diving in; understand the binary’s architecture and format. 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Example: file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strings: Extracts printable strings from the binary.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When to use: To locate hardcoded values, hints, or flags.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Example: strings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Calibri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995243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Tools for Static Analysis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88760"/>
            <a:ext cx="11319972" cy="50321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objdump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Disassembles the binary to inspect code and functions.</a:t>
            </a: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When to use: To locate function addresses and understand program flow.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Example: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objdump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-d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 panose="020F0502020204030204"/>
                <a:cs typeface="Miriam Libre"/>
              </a:rPr>
              <a:t>checksec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 panose="020F0502020204030204"/>
                <a:cs typeface="Miriam Libre"/>
              </a:rPr>
              <a:t>: Displays 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the security mechanisms applied to a binary (e.g., NX, PIE, ASLR).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Miriam Libre"/>
              </a:rPr>
              <a:t>When to use: To determine potential exploitation techniques.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Miriam Libre"/>
              </a:rPr>
              <a:t>Example: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Miriam Libre"/>
              </a:rPr>
              <a:t>checksec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Miriam Libre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Miriam Libre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 pitchFamily="2" charset="-79"/>
              <a:ea typeface="Calibri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77153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Tools for Dynamic Analysis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88760"/>
            <a:ext cx="11319972" cy="55861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gdb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The GNU debugger, used to analyze binary execution and inspect memory.</a:t>
            </a:r>
            <a:endParaRPr lang="en-US">
              <a:solidFill>
                <a:schemeClr val="bg1"/>
              </a:solidFill>
            </a:endParaRP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When to use: For debugging, finding buffer sizes, return addresses, and program flow.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Example: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gdb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./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pwndbg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An extension for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gdb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providing advanced debugging features.</a:t>
            </a:r>
            <a:endParaRPr lang="he-IL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When to use: To streamline exploitation tasks during debugging.</a:t>
            </a: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Example: Use in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gdb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source ~/pwndbg/gdbinit.py</a:t>
            </a:r>
          </a:p>
          <a:p>
            <a:pPr indent="-285750">
              <a:lnSpc>
                <a:spcPct val="150000"/>
              </a:lnSpc>
            </a:pP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769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>
                <a:solidFill>
                  <a:srgbClr val="E2FE21"/>
                </a:solidFill>
                <a:latin typeface="Miriam Libre"/>
                <a:ea typeface="+mn-lt"/>
                <a:cs typeface="+mn-lt"/>
              </a:rPr>
              <a:t>Tools for Dynamic Analysis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04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</a:t>
            </a:r>
            <a:r>
              <a:rPr lang="en-GB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Understanding </a:t>
            </a:r>
            <a:r>
              <a:rPr lang="en-GB" sz="1000">
                <a:solidFill>
                  <a:schemeClr val="bg1"/>
                </a:solidFill>
                <a:latin typeface="Miriam Libre"/>
                <a:cs typeface="Miriam Libre"/>
              </a:rPr>
              <a:t>Binary Exploitation</a:t>
            </a:r>
            <a:endParaRPr lang="en-GB" sz="1000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DBC54-62B5-724F-AD78-A9054ABBF6A7}"/>
              </a:ext>
            </a:extLst>
          </p:cNvPr>
          <p:cNvSpPr txBox="1"/>
          <p:nvPr/>
        </p:nvSpPr>
        <p:spPr>
          <a:xfrm>
            <a:off x="707135" y="1288760"/>
            <a:ext cx="11319972" cy="31854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ltrace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Traces library calls made by the binary.</a:t>
            </a: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When to use: To inspect interactions with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libc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functions (e.g.,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printf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, gets).</a:t>
            </a: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Example: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ltrace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./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strace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: Traces system calls made by the binary.</a:t>
            </a: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When to use: To understand file I/O, network, or memory operations.</a:t>
            </a:r>
          </a:p>
          <a:p>
            <a:pPr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Example: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strace</a:t>
            </a:r>
            <a:r>
              <a:rPr lang="en-US" sz="2400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 ./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Calibri"/>
                <a:cs typeface="Arial"/>
              </a:rPr>
              <a:t>binary_name</a:t>
            </a: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604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Widescreen</PresentationFormat>
  <Paragraphs>233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Arial,Sans-Serif</vt:lpstr>
      <vt:lpstr>Calibri</vt:lpstr>
      <vt:lpstr>Calibri Light</vt:lpstr>
      <vt:lpstr>Courier New</vt:lpstr>
      <vt:lpstr>Courier New,monospace</vt:lpstr>
      <vt:lpstr>Handjet Medium Square Single</vt:lpstr>
      <vt:lpstr>Handjet SemiBold Square Single</vt:lpstr>
      <vt:lpstr>Handjet Square Single</vt:lpstr>
      <vt:lpstr>Miriam Libre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michalu@gmail.com</dc:creator>
  <cp:lastModifiedBy>Noam Ben-Shimon</cp:lastModifiedBy>
  <cp:revision>5</cp:revision>
  <dcterms:created xsi:type="dcterms:W3CDTF">2024-01-15T09:56:38Z</dcterms:created>
  <dcterms:modified xsi:type="dcterms:W3CDTF">2025-11-14T14:01:59Z</dcterms:modified>
</cp:coreProperties>
</file>