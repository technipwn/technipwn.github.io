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1"/>
  </p:notesMasterIdLst>
  <p:sldIdLst>
    <p:sldId id="276" r:id="rId2"/>
    <p:sldId id="283" r:id="rId3"/>
    <p:sldId id="293" r:id="rId4"/>
    <p:sldId id="294" r:id="rId5"/>
    <p:sldId id="281" r:id="rId6"/>
    <p:sldId id="299" r:id="rId7"/>
    <p:sldId id="284" r:id="rId8"/>
    <p:sldId id="275" r:id="rId9"/>
    <p:sldId id="298" r:id="rId10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2112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537C1810-35F2-412D-AEE6-5E6BB2A9C21F}" type="datetimeFigureOut">
              <a:rPr lang="he-IL" smtClean="0"/>
              <a:t>כ"ו/אייר/תשפ"ו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451BF24-4458-4D8F-A945-9C6F0ABDBB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49630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1BF24-4458-4D8F-A945-9C6F0ABDBBC8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5470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16080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17501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54913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93526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67629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56272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51682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62865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4B1DA90-4B35-4466-B0CD-2F3B93665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B320D17C-E8CD-4723-87CB-C95158FCE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7EB8D63-0230-4748-9D3F-B917CA07E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3ED6A-FECF-4EBD-9063-EE64115B7AF2}" type="datetimeFigureOut">
              <a:rPr lang="he-IL" smtClean="0"/>
              <a:t>כ"ו/אייר/תשפ"ו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82CF739-F069-494A-89D8-6544F827F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011067E-9AB1-454C-AE14-A8AE1FC7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BC02F-94E1-4048-AF3E-3E3683EB67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6625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EFB7589-D0E6-4583-8D15-367CB48AF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AC7795A-B2A6-400B-80D4-65CDE1CDC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933D744-D0DE-42D4-B0AB-79B16431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3ED6A-FECF-4EBD-9063-EE64115B7AF2}" type="datetimeFigureOut">
              <a:rPr lang="he-IL" smtClean="0"/>
              <a:t>כ"ו/אייר/תשפ"ו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EF70C11-CFF5-4B6D-8B7F-F22E4433C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FA18357-549C-4D93-9360-0A560ECCC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BC02F-94E1-4048-AF3E-3E3683EB67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65650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E80F5B4-BC4D-4ED7-98B2-60353CD50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DEF9B61-A44B-4B19-854F-5F3AC1FAC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657522B-34AD-44FC-8EF6-14DCF1792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3ED6A-FECF-4EBD-9063-EE64115B7AF2}" type="datetimeFigureOut">
              <a:rPr lang="he-IL" smtClean="0"/>
              <a:t>כ"ו/אייר/תשפ"ו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6774C3A-FEE8-430B-B9B3-F95026C8C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4B534A3-A0F6-4B3A-81A1-21E2A0CB6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BC02F-94E1-4048-AF3E-3E3683EB67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07943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069C52C-206F-4465-A8DD-73D408246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61ADA3F-A2A2-4F28-B947-D1CEB7548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88AD172-9BD0-437A-B9A1-67F69CC40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83FB42E-EEB3-466E-AB95-D6C4A608F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3ED6A-FECF-4EBD-9063-EE64115B7AF2}" type="datetimeFigureOut">
              <a:rPr lang="he-IL" smtClean="0"/>
              <a:t>כ"ו/אייר/תשפ"ו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870ACB8-11BA-4A96-81DA-4838AE26B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826A1EB-106E-45A5-810B-B5C9246E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BC02F-94E1-4048-AF3E-3E3683EB67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66316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30995D7-084C-4241-AEC0-5E942FB7F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AC284F8-F21E-4C1D-BC54-F9CD0B9D8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89FEEAE-F9B4-4652-871E-AF828AFAA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2ED53E06-9FFD-4215-829F-7A2153985D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40DDE590-708C-4DB9-8550-C85475F41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8FF0999A-A01B-4B31-989F-27227A8BA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3ED6A-FECF-4EBD-9063-EE64115B7AF2}" type="datetimeFigureOut">
              <a:rPr lang="he-IL" smtClean="0"/>
              <a:t>כ"ו/אייר/תשפ"ו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0126A390-5D32-4E5B-BF23-9F57E412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53AF7FEB-9382-40B8-B326-E5E516A5D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BC02F-94E1-4048-AF3E-3E3683EB67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35266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80EB38B-BC47-4796-9AA8-2F925CCDD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ACB0CB88-4398-470C-93A5-5AC58983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3ED6A-FECF-4EBD-9063-EE64115B7AF2}" type="datetimeFigureOut">
              <a:rPr lang="he-IL" smtClean="0"/>
              <a:t>כ"ו/אייר/תשפ"ו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D7A4386B-83E8-4A2C-B3FF-3508F8778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CEDF94D5-94A5-4045-AC7C-16D4C377C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BC02F-94E1-4048-AF3E-3E3683EB67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31118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DA617DEF-EB48-4A86-A560-54D5DA838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3ED6A-FECF-4EBD-9063-EE64115B7AF2}" type="datetimeFigureOut">
              <a:rPr lang="he-IL" smtClean="0"/>
              <a:t>כ"ו/אייר/תשפ"ו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36570CD0-474D-46DA-A75E-80A784610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DAF5A3C-CD69-440A-8FD4-33446583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BC02F-94E1-4048-AF3E-3E3683EB67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60591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A74F810-5A87-41AD-B96A-9C16AF808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51F4DE0-934B-4216-B752-F9B5307AE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03B8CDC-190C-4243-8EA2-BDB24B8B6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117660C-C0A9-42D1-A6B4-F4523F3D9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3ED6A-FECF-4EBD-9063-EE64115B7AF2}" type="datetimeFigureOut">
              <a:rPr lang="he-IL" smtClean="0"/>
              <a:t>כ"ו/אייר/תשפ"ו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BA81EDF-2BBC-43E7-B86B-D719F6AE6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05D551D-9281-4305-B169-D5777D08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BC02F-94E1-4048-AF3E-3E3683EB67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6990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BCAB0D-164D-485F-AD34-B023C1CB0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003DD750-B68B-4EC6-B7EA-0A96179552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9320D7F-6492-4E54-ABD3-20D5AA0E4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2DB2825-C2A6-4C2E-8664-180FD029F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3ED6A-FECF-4EBD-9063-EE64115B7AF2}" type="datetimeFigureOut">
              <a:rPr lang="he-IL" smtClean="0"/>
              <a:t>כ"ו/אייר/תשפ"ו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9AE7F8F-5C67-4E44-8A15-7D265D629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0A3C2B1-B6A2-4501-A2F7-FF7C91E37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BC02F-94E1-4048-AF3E-3E3683EB67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32288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D0768F4-4279-45E2-88DF-D23C21A92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5CB5B2B-84FB-4BEC-8A6C-B89D06FC5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597C29E-84C5-4B6C-A5CD-A3A169199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3ED6A-FECF-4EBD-9063-EE64115B7AF2}" type="datetimeFigureOut">
              <a:rPr lang="he-IL" smtClean="0"/>
              <a:t>כ"ו/אייר/תשפ"ו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2B78384-4D44-4404-A117-44A028FE7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8D38FDA-F94C-4D83-BC16-F1AE52503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BC02F-94E1-4048-AF3E-3E3683EB67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9844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05795517-EA57-4AB5-9DDA-7254997106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B1E4474D-249F-4F82-A5BE-FAF747B2B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1065408-4DFF-45E0-BEB3-0D17A8F6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3ED6A-FECF-4EBD-9063-EE64115B7AF2}" type="datetimeFigureOut">
              <a:rPr lang="he-IL" smtClean="0"/>
              <a:t>כ"ו/אייר/תשפ"ו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E1DFB3C-A939-4A25-A1E8-A776E296A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E6FE398-ED02-4971-9DF3-5F1DB6AA9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BC02F-94E1-4048-AF3E-3E3683EB67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74398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8505EA4-826A-454D-A32C-5E2C92C35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35547D0-F60A-4BAF-8C33-5E1CEFE05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4316A39-2C62-4261-AFE0-69B913E4F5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3ED6A-FECF-4EBD-9063-EE64115B7AF2}" type="datetimeFigureOut">
              <a:rPr lang="he-IL" smtClean="0"/>
              <a:t>כ"ו/אייר/תשפ"ו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55CD395-5B33-4AB9-BE16-D8BDFF2C37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936CDED-7033-4CA2-BB09-1564F4BBF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BC02F-94E1-4048-AF3E-3E3683EB67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2643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https://learn.cylabacademy.org/classroom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73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4C4AF9-6CBF-8504-F8FE-8E825ADAD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096" y="2004365"/>
            <a:ext cx="1998805" cy="3028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D002C8-CC40-FE0D-6F22-238967E65159}"/>
              </a:ext>
            </a:extLst>
          </p:cNvPr>
          <p:cNvSpPr txBox="1"/>
          <p:nvPr/>
        </p:nvSpPr>
        <p:spPr>
          <a:xfrm>
            <a:off x="1851500" y="3340650"/>
            <a:ext cx="6261812" cy="16696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E1FD21"/>
                </a:solidFill>
                <a:effectLst/>
                <a:latin typeface="Miriam Libre"/>
                <a:ea typeface="3270 CONDENSED" panose="02000509000000000000" pitchFamily="49" charset="0"/>
                <a:cs typeface="Miriam Libre"/>
              </a:rPr>
              <a:t>Session #1</a:t>
            </a:r>
          </a:p>
          <a:p>
            <a:pPr algn="l">
              <a:lnSpc>
                <a:spcPts val="6000"/>
              </a:lnSpc>
            </a:pPr>
            <a:r>
              <a:rPr lang="en-US" sz="6000" b="1">
                <a:solidFill>
                  <a:schemeClr val="bg1"/>
                </a:solidFill>
                <a:effectLst/>
                <a:latin typeface="Miriam Libre" pitchFamily="2" charset="-79"/>
                <a:ea typeface="3270 CONDENSED" panose="02000509000000000000" pitchFamily="49" charset="0"/>
                <a:cs typeface="Miriam Libre" pitchFamily="2" charset="-79"/>
              </a:rPr>
              <a:t>Introduction</a:t>
            </a:r>
            <a:endParaRPr lang="he-IL" sz="6000" b="1">
              <a:solidFill>
                <a:schemeClr val="bg1"/>
              </a:solidFill>
              <a:effectLst/>
              <a:latin typeface="Miriam Libre" pitchFamily="2" charset="-79"/>
              <a:ea typeface="3270 CONDENSED" panose="02000509000000000000" pitchFamily="49" charset="0"/>
              <a:cs typeface="Miriam Libre" pitchFamily="2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720B3A-4214-C253-DC62-43F69EE562D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6D70DD-DDA5-8E1C-DC90-BA7243AD243D}"/>
              </a:ext>
            </a:extLst>
          </p:cNvPr>
          <p:cNvCxnSpPr>
            <a:cxnSpLocks/>
          </p:cNvCxnSpPr>
          <p:nvPr/>
        </p:nvCxnSpPr>
        <p:spPr>
          <a:xfrm>
            <a:off x="1851500" y="5190890"/>
            <a:ext cx="63900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9394D29-BC34-199F-B7B9-48169D245347}"/>
              </a:ext>
            </a:extLst>
          </p:cNvPr>
          <p:cNvSpPr txBox="1"/>
          <p:nvPr/>
        </p:nvSpPr>
        <p:spPr>
          <a:xfrm>
            <a:off x="2072666" y="5371443"/>
            <a:ext cx="626181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Miriam Libre"/>
                <a:cs typeface="Miriam Libre"/>
              </a:rPr>
              <a:t>Winter 2024/25</a:t>
            </a:r>
            <a:endParaRPr lang="he-IL">
              <a:solidFill>
                <a:schemeClr val="bg1"/>
              </a:solidFill>
              <a:effectLst/>
              <a:latin typeface="Miriam Libre"/>
              <a:cs typeface="Miriam Libre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66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2D4994-61E5-995F-BDA0-2FC0F1B87884}"/>
              </a:ext>
            </a:extLst>
          </p:cNvPr>
          <p:cNvSpPr txBox="1"/>
          <p:nvPr/>
        </p:nvSpPr>
        <p:spPr>
          <a:xfrm>
            <a:off x="542553" y="1273452"/>
            <a:ext cx="10659948" cy="37535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l" rtl="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“Capture The Flag” - Cybersecurity competition</a:t>
            </a:r>
            <a:endParaRPr lang="en-US" sz="3200" dirty="0">
              <a:solidFill>
                <a:schemeClr val="bg1"/>
              </a:solidFill>
              <a:latin typeface="Miriam Libre"/>
              <a:cs typeface="Miriam Libre"/>
            </a:endParaRP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Miriam Libre"/>
                <a:cs typeface="Miriam Libre"/>
              </a:rPr>
              <a:t>O</a:t>
            </a:r>
            <a:r>
              <a:rPr lang="en-US" sz="3200" dirty="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bjective </a:t>
            </a:r>
            <a:r>
              <a:rPr lang="en-US" sz="3200" dirty="0">
                <a:solidFill>
                  <a:schemeClr val="bg1"/>
                </a:solidFill>
                <a:latin typeface="Miriam Libre"/>
                <a:cs typeface="Miriam Libre"/>
              </a:rPr>
              <a:t>– find </a:t>
            </a:r>
            <a:r>
              <a:rPr lang="en-US" sz="3200" dirty="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"flags" </a:t>
            </a:r>
            <a:r>
              <a:rPr lang="en-US" sz="3200" dirty="0">
                <a:solidFill>
                  <a:schemeClr val="bg1"/>
                </a:solidFill>
                <a:latin typeface="Miriam Libre"/>
                <a:cs typeface="Miriam Libre"/>
              </a:rPr>
              <a:t>(strings of text) that are hidden in different and creative ways.</a:t>
            </a:r>
            <a:endParaRPr lang="en-US" sz="3200" dirty="0">
              <a:solidFill>
                <a:schemeClr val="bg1"/>
              </a:solidFill>
              <a:effectLst/>
              <a:latin typeface="Miriam Libre"/>
              <a:cs typeface="Miriam Libre"/>
            </a:endParaRP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Miriam Libre"/>
                <a:cs typeface="Miriam Libre"/>
              </a:rPr>
              <a:t>Highly technical</a:t>
            </a:r>
            <a:endParaRPr lang="en-US" sz="3200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 marL="285750" indent="-285750" algn="l" rtl="0">
              <a:lnSpc>
                <a:spcPts val="256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604498" y="297371"/>
            <a:ext cx="71363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b="1">
                <a:solidFill>
                  <a:srgbClr val="E2FE21"/>
                </a:solidFill>
                <a:latin typeface="Miriam Libre" pitchFamily="2" charset="-79"/>
                <a:cs typeface="Miriam Libre" pitchFamily="2" charset="-79"/>
              </a:rPr>
              <a:t>What is CTF?</a:t>
            </a:r>
            <a:endParaRPr lang="he-IL" sz="4800" b="1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01</a:t>
            </a:r>
            <a:r>
              <a:rPr lang="en-US" sz="10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Introduction</a:t>
            </a:r>
            <a:endParaRPr lang="en-IL" sz="10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593117-84B0-21CE-AF99-00ACEFCFE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306" y="3591098"/>
            <a:ext cx="5312870" cy="2405997"/>
          </a:xfrm>
          <a:prstGeom prst="rect">
            <a:avLst/>
          </a:prstGeom>
          <a:ln>
            <a:solidFill>
              <a:srgbClr val="E2FE21"/>
            </a:solidFill>
          </a:ln>
        </p:spPr>
      </p:pic>
    </p:spTree>
    <p:extLst>
      <p:ext uri="{BB962C8B-B14F-4D97-AF65-F5344CB8AC3E}">
        <p14:creationId xmlns:p14="http://schemas.microsoft.com/office/powerpoint/2010/main" val="1524253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Basics – Why CTF?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07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Basics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9E7556-A746-22F3-29F4-C46EA708F66D}"/>
              </a:ext>
            </a:extLst>
          </p:cNvPr>
          <p:cNvSpPr txBox="1"/>
          <p:nvPr/>
        </p:nvSpPr>
        <p:spPr>
          <a:xfrm>
            <a:off x="707135" y="1471214"/>
            <a:ext cx="8185709" cy="1101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Practical skills</a:t>
            </a:r>
          </a:p>
          <a:p>
            <a:pPr marL="285750" indent="-285750" algn="l" rtl="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Meet new people</a:t>
            </a:r>
          </a:p>
          <a:p>
            <a:pPr marL="285750" indent="-285750" algn="l" rtl="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Fun!</a:t>
            </a:r>
            <a:endParaRPr lang="en-US" sz="2400" b="1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E4F2A6-C7E3-DB96-A005-4F8A413E3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11" y="2765434"/>
            <a:ext cx="4626801" cy="31540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mhackeroni on X: &quot;Hey hackers! We survived our first @DEFCON #CTF and ended  up in 7th place! Congratz to DEFKOR00T for eating maccheroni and to  @oooverflow for such a nice competition! /CC @">
            <a:extLst>
              <a:ext uri="{FF2B5EF4-FFF2-40B4-BE49-F238E27FC236}">
                <a16:creationId xmlns:a16="http://schemas.microsoft.com/office/drawing/2014/main" id="{41FA63F8-F1C2-0C76-62EB-302377BAF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4442" y="2777487"/>
            <a:ext cx="5957593" cy="322206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314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Schedule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</a:t>
            </a:r>
            <a:r>
              <a:rPr lang="en-US" sz="1000" dirty="0">
                <a:solidFill>
                  <a:srgbClr val="E2FE21"/>
                </a:solidFill>
                <a:latin typeface="Miriam Libre" pitchFamily="2" charset="-79"/>
                <a:cs typeface="Miriam Libre" pitchFamily="2" charset="-79"/>
              </a:rPr>
              <a:t>8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Introduction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0DC04A-C650-2CB3-5E8A-3945D4B93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54332"/>
              </p:ext>
            </p:extLst>
          </p:nvPr>
        </p:nvGraphicFramePr>
        <p:xfrm>
          <a:off x="3829606" y="1947274"/>
          <a:ext cx="4513277" cy="1950809"/>
        </p:xfrm>
        <a:graphic>
          <a:graphicData uri="http://schemas.openxmlformats.org/drawingml/2006/table">
            <a:tbl>
              <a:tblPr rtl="1" firstRow="1" bandRow="1">
                <a:tableStyleId>{3C2FFA5D-87B4-456A-9821-1D502468CF0F}</a:tableStyleId>
              </a:tblPr>
              <a:tblGrid>
                <a:gridCol w="2866238">
                  <a:extLst>
                    <a:ext uri="{9D8B030D-6E8A-4147-A177-3AD203B41FA5}">
                      <a16:colId xmlns:a16="http://schemas.microsoft.com/office/drawing/2014/main" val="561333560"/>
                    </a:ext>
                  </a:extLst>
                </a:gridCol>
                <a:gridCol w="1299770">
                  <a:extLst>
                    <a:ext uri="{9D8B030D-6E8A-4147-A177-3AD203B41FA5}">
                      <a16:colId xmlns:a16="http://schemas.microsoft.com/office/drawing/2014/main" val="3914365421"/>
                    </a:ext>
                  </a:extLst>
                </a:gridCol>
                <a:gridCol w="347269">
                  <a:extLst>
                    <a:ext uri="{9D8B030D-6E8A-4147-A177-3AD203B41FA5}">
                      <a16:colId xmlns:a16="http://schemas.microsoft.com/office/drawing/2014/main" val="1848567153"/>
                    </a:ext>
                  </a:extLst>
                </a:gridCol>
              </a:tblGrid>
              <a:tr h="405441">
                <a:tc>
                  <a:txBody>
                    <a:bodyPr/>
                    <a:lstStyle/>
                    <a:p>
                      <a:pPr algn="ctr" rtl="1"/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Meeting</a:t>
                      </a:r>
                      <a:endParaRPr lang="he-IL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E2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Date</a:t>
                      </a:r>
                      <a:endParaRPr lang="he-IL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E2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#</a:t>
                      </a:r>
                      <a:endParaRPr lang="he-IL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E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35538"/>
                  </a:ext>
                </a:extLst>
              </a:tr>
              <a:tr h="386342">
                <a:tc>
                  <a:txBody>
                    <a:bodyPr/>
                    <a:lstStyle/>
                    <a:p>
                      <a:pPr algn="ctr" rtl="1"/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Introduction</a:t>
                      </a:r>
                      <a:endParaRPr lang="he-IL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E2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13/5/2026</a:t>
                      </a:r>
                      <a:endParaRPr lang="he-IL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E2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he-IL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E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445396"/>
                  </a:ext>
                </a:extLst>
              </a:tr>
              <a:tr h="386342">
                <a:tc>
                  <a:txBody>
                    <a:bodyPr/>
                    <a:lstStyle/>
                    <a:p>
                      <a:pPr algn="ctr" rtl="1"/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Web</a:t>
                      </a:r>
                      <a:endParaRPr lang="he-IL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E2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10/6/2026</a:t>
                      </a:r>
                      <a:endParaRPr lang="he-IL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E2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he-IL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E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956692"/>
                  </a:ext>
                </a:extLst>
              </a:tr>
              <a:tr h="386342">
                <a:tc>
                  <a:txBody>
                    <a:bodyPr/>
                    <a:lstStyle/>
                    <a:p>
                      <a:pPr algn="ctr" rtl="1"/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Cryptography</a:t>
                      </a:r>
                      <a:endParaRPr lang="he-IL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E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23/6/2026</a:t>
                      </a:r>
                      <a:endParaRPr lang="he-IL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E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he-IL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E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389381"/>
                  </a:ext>
                </a:extLst>
              </a:tr>
              <a:tr h="386342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Forensics</a:t>
                      </a:r>
                      <a:endParaRPr lang="he-IL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E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7/7/2026</a:t>
                      </a:r>
                      <a:endParaRPr lang="he-IL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E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he-IL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E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33473"/>
                  </a:ext>
                </a:extLst>
              </a:tr>
            </a:tbl>
          </a:graphicData>
        </a:graphic>
      </p:graphicFrame>
      <p:sp>
        <p:nvSpPr>
          <p:cNvPr id="10" name="TextBox 7">
            <a:extLst>
              <a:ext uri="{FF2B5EF4-FFF2-40B4-BE49-F238E27FC236}">
                <a16:creationId xmlns:a16="http://schemas.microsoft.com/office/drawing/2014/main" id="{EDA6757C-F196-49C4-BE64-D7191E00221D}"/>
              </a:ext>
            </a:extLst>
          </p:cNvPr>
          <p:cNvSpPr txBox="1"/>
          <p:nvPr/>
        </p:nvSpPr>
        <p:spPr>
          <a:xfrm>
            <a:off x="4164558" y="4302843"/>
            <a:ext cx="3894713" cy="18043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u="sng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Additional Lectures By:</a:t>
            </a: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Prof. Avi Mendelson</a:t>
            </a: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Mystery Guest lecturer</a:t>
            </a:r>
            <a:endParaRPr lang="en-US" sz="2000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 marL="285750" indent="-285750" algn="l" rtl="0">
              <a:lnSpc>
                <a:spcPts val="256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07641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392156" y="377839"/>
            <a:ext cx="11721241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 rtl="0"/>
            <a:r>
              <a:rPr lang="en-US" sz="4800" b="1" dirty="0">
                <a:solidFill>
                  <a:srgbClr val="E2FE21"/>
                </a:solidFill>
                <a:effectLst/>
                <a:latin typeface="Miriam Libre"/>
                <a:cs typeface="Miriam Libre"/>
              </a:rPr>
              <a:t>Keynote</a:t>
            </a:r>
            <a:r>
              <a:rPr lang="en-US" sz="3300" b="1" dirty="0">
                <a:solidFill>
                  <a:srgbClr val="E2FE21"/>
                </a:solidFill>
                <a:effectLst/>
                <a:latin typeface="Miriam Libre"/>
                <a:cs typeface="Miriam Libre"/>
              </a:rPr>
              <a:t> – Prof. Avi Mendelson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03</a:t>
            </a:r>
            <a:r>
              <a:rPr lang="en-US" sz="10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Introduction</a:t>
            </a:r>
            <a:endParaRPr lang="en-IL" sz="10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75442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D002C8-CC40-FE0D-6F22-238967E65159}"/>
              </a:ext>
            </a:extLst>
          </p:cNvPr>
          <p:cNvSpPr txBox="1"/>
          <p:nvPr/>
        </p:nvSpPr>
        <p:spPr>
          <a:xfrm>
            <a:off x="2965094" y="4337270"/>
            <a:ext cx="62618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>
              <a:lnSpc>
                <a:spcPts val="6000"/>
              </a:lnSpc>
            </a:pPr>
            <a:r>
              <a:rPr lang="en-US" sz="65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Example: repetition</a:t>
            </a:r>
            <a:endParaRPr lang="he-IL" sz="6500" b="1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EDE1B2-AA06-4838-05EB-AC57A1D6F4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E494CD-45EB-20D5-25E7-31FAD1644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0" y="2171772"/>
            <a:ext cx="13335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847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641821" y="323475"/>
            <a:ext cx="71363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b="1">
                <a:solidFill>
                  <a:srgbClr val="E2FE21"/>
                </a:solidFill>
                <a:latin typeface="Miriam Libre" pitchFamily="2" charset="-79"/>
                <a:cs typeface="Miriam Libre" pitchFamily="2" charset="-79"/>
              </a:rPr>
              <a:t>Website</a:t>
            </a:r>
            <a:endParaRPr lang="he-IL" sz="4800" b="1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01</a:t>
            </a:r>
            <a:r>
              <a:rPr lang="en-US" sz="10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Introduction</a:t>
            </a:r>
            <a:endParaRPr lang="en-IL" sz="10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D305CE-ABB2-9CA8-4B59-A94B25C07A36}"/>
              </a:ext>
            </a:extLst>
          </p:cNvPr>
          <p:cNvSpPr txBox="1"/>
          <p:nvPr/>
        </p:nvSpPr>
        <p:spPr>
          <a:xfrm>
            <a:off x="480632" y="1339520"/>
            <a:ext cx="10659948" cy="450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https://natitati4.github.io/technion-ctf/</a:t>
            </a:r>
            <a:endParaRPr lang="en-US" sz="2800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3" name="תמונה 12">
            <a:extLst>
              <a:ext uri="{FF2B5EF4-FFF2-40B4-BE49-F238E27FC236}">
                <a16:creationId xmlns:a16="http://schemas.microsoft.com/office/drawing/2014/main" id="{B70E30E0-E318-4403-8928-8B7305B1D4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5037" y="1947023"/>
            <a:ext cx="8751630" cy="3856464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B08B4FE6-1322-493E-8F4C-C5223EAB1E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58" y="2104679"/>
            <a:ext cx="2026244" cy="203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629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D002C8-CC40-FE0D-6F22-238967E65159}"/>
              </a:ext>
            </a:extLst>
          </p:cNvPr>
          <p:cNvSpPr txBox="1"/>
          <p:nvPr/>
        </p:nvSpPr>
        <p:spPr>
          <a:xfrm>
            <a:off x="2725012" y="4201572"/>
            <a:ext cx="6741976" cy="15927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algn="ctr" defTabSz="914400" rtl="0" eaLnBrk="1" latinLnBrk="0" hangingPunct="1">
              <a:lnSpc>
                <a:spcPts val="6000"/>
              </a:lnSpc>
            </a:pPr>
            <a:r>
              <a:rPr lang="en-US" sz="6500" b="1" dirty="0">
                <a:solidFill>
                  <a:schemeClr val="bg1"/>
                </a:solidFill>
                <a:latin typeface="Miriam Libre"/>
                <a:cs typeface="Miriam Libre"/>
              </a:rPr>
              <a:t>Practice Time</a:t>
            </a:r>
          </a:p>
          <a:p>
            <a:pPr algn="ctr">
              <a:lnSpc>
                <a:spcPts val="6000"/>
              </a:lnSpc>
            </a:pPr>
            <a:r>
              <a:rPr lang="en-US" sz="4000" b="1" dirty="0">
                <a:solidFill>
                  <a:schemeClr val="bg1"/>
                </a:solidFill>
                <a:latin typeface="Miriam Libre"/>
                <a:cs typeface="Miriam Libre"/>
              </a:rPr>
              <a:t>Beginners</a:t>
            </a:r>
            <a:endParaRPr lang="en-US" sz="2800" b="1" dirty="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EDE1B2-AA06-4838-05EB-AC57A1D6F4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E494CD-45EB-20D5-25E7-31FAD1644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6264" y="2203088"/>
            <a:ext cx="1333500" cy="1803400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032C1657-92F6-4FA8-BA07-1D9AB005E188}"/>
              </a:ext>
            </a:extLst>
          </p:cNvPr>
          <p:cNvSpPr txBox="1"/>
          <p:nvPr/>
        </p:nvSpPr>
        <p:spPr>
          <a:xfrm>
            <a:off x="3143167" y="5633009"/>
            <a:ext cx="6239694" cy="9753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rtl="0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hlinkClick r:id="rId7"/>
              </a:rPr>
              <a:t>https://learn.cylabacademy.org/classrooms</a:t>
            </a:r>
            <a:endParaRPr lang="en-US" sz="2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algn="ctr" rtl="0">
              <a:lnSpc>
                <a:spcPct val="150000"/>
              </a:lnSpc>
            </a:pPr>
            <a:r>
              <a:rPr lang="en-US" sz="2000" dirty="0" err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CbyOpQlZJ</a:t>
            </a:r>
            <a:r>
              <a:rPr lang="en-US" sz="20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 | </a:t>
            </a:r>
            <a:r>
              <a:rPr lang="en-US" sz="2000" dirty="0" err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picoCTF</a:t>
            </a:r>
            <a:r>
              <a:rPr lang="en-US" sz="20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{♥♦♣♠}</a:t>
            </a:r>
            <a:endParaRPr lang="en-US" sz="2000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1187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D002C8-CC40-FE0D-6F22-238967E65159}"/>
              </a:ext>
            </a:extLst>
          </p:cNvPr>
          <p:cNvSpPr txBox="1"/>
          <p:nvPr/>
        </p:nvSpPr>
        <p:spPr>
          <a:xfrm>
            <a:off x="2965094" y="4337270"/>
            <a:ext cx="6261812" cy="919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>
              <a:lnSpc>
                <a:spcPts val="6000"/>
              </a:lnSpc>
            </a:pPr>
            <a:r>
              <a:rPr lang="en-US" sz="65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Thank You</a:t>
            </a:r>
            <a:endParaRPr lang="he-IL" sz="6500" b="1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EDE1B2-AA06-4838-05EB-AC57A1D6F4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E494CD-45EB-20D5-25E7-31FAD1644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0" y="2171772"/>
            <a:ext cx="13335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65234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138</Words>
  <Application>Microsoft Office PowerPoint</Application>
  <PresentationFormat>מסך רחב</PresentationFormat>
  <Paragraphs>53</Paragraphs>
  <Slides>9</Slides>
  <Notes>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Miriam Libre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Eyal Barnea</dc:creator>
  <cp:lastModifiedBy>Eyal Barnea</cp:lastModifiedBy>
  <cp:revision>5</cp:revision>
  <dcterms:created xsi:type="dcterms:W3CDTF">2026-05-13T13:41:20Z</dcterms:created>
  <dcterms:modified xsi:type="dcterms:W3CDTF">2026-05-13T14:15:08Z</dcterms:modified>
</cp:coreProperties>
</file>